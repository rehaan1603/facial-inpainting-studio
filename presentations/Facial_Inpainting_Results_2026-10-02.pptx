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abcfc6a02e4d02" /><Relationship Type="http://schemas.openxmlformats.org/officeDocument/2006/relationships/extended-properties" Target="/docProps/app.xml" Id="R38fa084d8a4747fb" /><Relationship Type="http://schemas.openxmlformats.org/officeDocument/2006/relationships/officeDocument" Target="/ppt/presentation.xml" Id="R8452390099b2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a91466744e478b"/>
  </p:sldMasterIdLst>
  <p:notesMasterIdLst>
    <p:notesMasterId xmlns:r="http://schemas.openxmlformats.org/officeDocument/2006/relationships" r:id="R1af05b64302b4512"/>
  </p:notesMasterIdLst>
  <p:sldIdLst>
    <p:sldId xmlns:r="http://schemas.openxmlformats.org/officeDocument/2006/relationships" id="256" r:id="Ra5f160e0d1564781"/>
    <p:sldId xmlns:r="http://schemas.openxmlformats.org/officeDocument/2006/relationships" id="257" r:id="R5b8053469321411d"/>
    <p:sldId xmlns:r="http://schemas.openxmlformats.org/officeDocument/2006/relationships" id="258" r:id="Rb805e3b18a364fc1"/>
    <p:sldId xmlns:r="http://schemas.openxmlformats.org/officeDocument/2006/relationships" id="259" r:id="Rc1bad41c67364527"/>
    <p:sldId xmlns:r="http://schemas.openxmlformats.org/officeDocument/2006/relationships" id="260" r:id="Rdd954a4383f54d73"/>
    <p:sldId xmlns:r="http://schemas.openxmlformats.org/officeDocument/2006/relationships" id="261" r:id="Redc675eca46e42f4"/>
    <p:sldId xmlns:r="http://schemas.openxmlformats.org/officeDocument/2006/relationships" id="262" r:id="R1133fad362da44c7"/>
    <p:sldId xmlns:r="http://schemas.openxmlformats.org/officeDocument/2006/relationships" id="263" r:id="Rd7589b18c1a34196"/>
    <p:sldId xmlns:r="http://schemas.openxmlformats.org/officeDocument/2006/relationships" id="264" r:id="R43b2fba674c74f05"/>
    <p:sldId xmlns:r="http://schemas.openxmlformats.org/officeDocument/2006/relationships" id="265" r:id="R3aec6651ca7f4d66"/>
    <p:sldId xmlns:r="http://schemas.openxmlformats.org/officeDocument/2006/relationships" id="266" r:id="Rc1f88f930ab945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0306cb5330412d" /><Relationship Type="http://schemas.openxmlformats.org/officeDocument/2006/relationships/slideMaster" Target="/ppt/slideMasters/slideMaster1.xml" Id="R83a91466744e478b" /><Relationship Type="http://schemas.openxmlformats.org/officeDocument/2006/relationships/notesMaster" Target="/ppt/notesMasters/notesMaster1.xml" Id="R1af05b64302b4512" /><Relationship Type="http://schemas.openxmlformats.org/officeDocument/2006/relationships/presProps" Target="/ppt/presProps.xml" Id="Rd3c634cacbd14267" /><Relationship Type="http://schemas.openxmlformats.org/officeDocument/2006/relationships/tableStyles" Target="/ppt/tableStyles.xml" Id="Rcd50b4b32f884db6" /><Relationship Type="http://schemas.openxmlformats.org/officeDocument/2006/relationships/slide" Target="/ppt/slides/slide1.xml" Id="Ra5f160e0d1564781" /><Relationship Type="http://schemas.openxmlformats.org/officeDocument/2006/relationships/slide" Target="/ppt/slides/slide2.xml" Id="R5b8053469321411d" /><Relationship Type="http://schemas.openxmlformats.org/officeDocument/2006/relationships/slide" Target="/ppt/slides/slide3.xml" Id="Rb805e3b18a364fc1" /><Relationship Type="http://schemas.openxmlformats.org/officeDocument/2006/relationships/slide" Target="/ppt/slides/slide4.xml" Id="Rc1bad41c67364527" /><Relationship Type="http://schemas.openxmlformats.org/officeDocument/2006/relationships/slide" Target="/ppt/slides/slide5.xml" Id="Rdd954a4383f54d73" /><Relationship Type="http://schemas.openxmlformats.org/officeDocument/2006/relationships/slide" Target="/ppt/slides/slide6.xml" Id="Redc675eca46e42f4" /><Relationship Type="http://schemas.openxmlformats.org/officeDocument/2006/relationships/slide" Target="/ppt/slides/slide7.xml" Id="R1133fad362da44c7" /><Relationship Type="http://schemas.openxmlformats.org/officeDocument/2006/relationships/slide" Target="/ppt/slides/slide8.xml" Id="Rd7589b18c1a34196" /><Relationship Type="http://schemas.openxmlformats.org/officeDocument/2006/relationships/slide" Target="/ppt/slides/slide9.xml" Id="R43b2fba674c74f05" /><Relationship Type="http://schemas.openxmlformats.org/officeDocument/2006/relationships/slide" Target="/ppt/slides/slide10.xml" Id="R3aec6651ca7f4d66" /><Relationship Type="http://schemas.openxmlformats.org/officeDocument/2006/relationships/slide" Target="/ppt/slides/slide11.xml" Id="Rc1f88f930ab945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c8b9b1b20a47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3257f40c14497" /><Relationship Type="http://schemas.openxmlformats.org/officeDocument/2006/relationships/notesMaster" Target="/ppt/notesMasters/notesMaster1.xml" Id="R39b0281d4051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c2449121f74a10" /><Relationship Type="http://schemas.openxmlformats.org/officeDocument/2006/relationships/notesMaster" Target="/ppt/notesMasters/notesMaster1.xml" Id="R100b8d9fa43448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e484a9d0194ad0" /><Relationship Type="http://schemas.openxmlformats.org/officeDocument/2006/relationships/notesMaster" Target="/ppt/notesMasters/notesMaster1.xml" Id="Rfe854183c2f043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dd4cde60e54fbc" /><Relationship Type="http://schemas.openxmlformats.org/officeDocument/2006/relationships/notesMaster" Target="/ppt/notesMasters/notesMaster1.xml" Id="R609b4aa4c2864d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38160a98374789" /><Relationship Type="http://schemas.openxmlformats.org/officeDocument/2006/relationships/notesMaster" Target="/ppt/notesMasters/notesMaster1.xml" Id="R3f7f320a683642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7227e3b9ab4bc1" /><Relationship Type="http://schemas.openxmlformats.org/officeDocument/2006/relationships/notesMaster" Target="/ppt/notesMasters/notesMaster1.xml" Id="Rdf1fd294e7394a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5657f1a71f4968" /><Relationship Type="http://schemas.openxmlformats.org/officeDocument/2006/relationships/notesMaster" Target="/ppt/notesMasters/notesMaster1.xml" Id="R9c6a002f221b46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21479eecf4f3c" /><Relationship Type="http://schemas.openxmlformats.org/officeDocument/2006/relationships/notesMaster" Target="/ppt/notesMasters/notesMaster1.xml" Id="R18c220141aa84a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fbd0a8e7bf4527" /><Relationship Type="http://schemas.openxmlformats.org/officeDocument/2006/relationships/notesMaster" Target="/ppt/notesMasters/notesMaster1.xml" Id="Rbe53eab08f6644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b2d84cc7c049b2" /><Relationship Type="http://schemas.openxmlformats.org/officeDocument/2006/relationships/notesMaster" Target="/ppt/notesMasters/notesMaster1.xml" Id="R938713ee60404e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518264a5194caf" /><Relationship Type="http://schemas.openxmlformats.org/officeDocument/2006/relationships/notesMaster" Target="/ppt/notesMasters/notesMaster1.xml" Id="R9e6cd8fe889248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context only. Different datasets, tasks and protocols prohibit ranking these scores against ours. Sources: [LaMa-Fourier, Table 1](https://arxiv.org/html/2109.07161v1)</a:t>
            </a:r>
          </a:p>
          <a:p xmlns:a="http://schemas.openxmlformats.org/drawingml/2006/main">
            <a:r>
              <a:t>[Extended ResShift, Table V](https://arxiv.org/html/2403.07319v1)</a:t>
            </a:r>
          </a:p>
          <a:p xmlns:a="http://schemas.openxmlformats.org/drawingml/2006/main">
            <a:r>
              <a:t>[RefFaceInpainting, Table I](https://arxiv.org/html/2303.07014v1)</a:t>
            </a:r>
          </a:p>
          <a:p xmlns:a="http://schemas.openxmlformats.org/drawingml/2006/main">
            <a:r>
              <a:t>[ReF-LDM, Table 7](https://arxiv.org/html/2412.05043v1)</a:t>
            </a:r>
          </a:p>
          <a:p xmlns:a="http://schemas.openxmlformats.org/drawingml/2006/main">
            <a:r>
              <a:t>[GFRNet, Table 1](https://www.ecva.net/papers/eccv_2018/papers_ECCV/papers/Xiaoming_Li_Learning_Warped_Guidance_ECCV_2018_paper.pdf)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context only. Different datasets, tasks and protocols prohibit ranking these scores against ours. Sources: [3DFaceFill, Figure 4(d)](https://arxiv.org/html/2110.10395v1)</a:t>
            </a:r>
          </a:p>
          <a:p xmlns:a="http://schemas.openxmlformats.org/drawingml/2006/main">
            <a:r>
              <a:t>[DMDNet, Table II](https://arxiv.org/html/2210.08160v1)</a:t>
            </a:r>
          </a:p>
          <a:p xmlns:a="http://schemas.openxmlformats.org/drawingml/2006/main">
            <a:r>
              <a:t>[ReFine, Table 1](https://openaccess.thecvf.com/content/WACV2025/papers/Chong_Copy_or_Not_Reference-Based_Face_Image_Restoration_with_Fine_Details_WACV_2025_paper.pdf)</a:t>
            </a:r>
          </a:p>
          <a:p xmlns:a="http://schemas.openxmlformats.org/drawingml/2006/main">
            <a:r>
              <a:t>[RefSTAR, Table 1](https://arxiv.org/html/2507.10470v1)</a:t>
            </a:r>
          </a:p>
          <a:p xmlns:a="http://schemas.openxmlformats.org/drawingml/2006/main">
            <a:r>
              <a:t>[ReSem-Face, Table 1](https://arxiv.org/html/2608.04820v1)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research/target_compatibility_results_v1.json, clean-reference condition. Local ReF-LDM uses individually encoded references, differing from author benchmark encoding. Baseline paper: https://arxiv.org/html/2412.05043v1 . Four observed development identities, seed 17, 512 output, four references, 50 DDIM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research/target_compatibility_results_v1.json, baseline/corrupted paired contrasts. Seven reference corruptions, four observed identity clusters. Three FaceNet measurements unavailable. This experiment does not evaluate erased-region inpainting.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research/IDENTITY_COMPATIBILITY_AUDIT_V2.md and FINAL_METHOD_REPORT.md. Training-only decoded FaceNet feasibility and objective ablation. 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research/identity_compatibility_v2_results.json; summary all seeds. Seeds17,29,43. Four observed development identities,12 outputs per method and condition. Same4 references,512RGB,50steps,guidance1.5. Full-image restoration.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research/identity_compatibility_v2_results.json; summary all seeds. Seeds17,29,43. Four observed development identities,12 outputs per method and condition. Same4 references,512RGB,50steps,guidance1.5. Full-image restoration.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research/identity_compatibility_v2_results.json. ArcFace valid support8/12 per method/condition. Target7400 detection fails,10149 seed17 output detection fails. FaceNet has12/12 validpairs. Eye LPIPS is bounding-box crop plus10pixelcontext, not strictly masked LPIPS.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identity_compatibility_v2_results.json and FINAL_METHOD_REPORT.md. Cosine similarity must not be represented as percentage correct. Generation success and face detection are functional rates, not reconstruction fidelity.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IDENTITY_COMPATIBILITY_AUDIT_V2.md; UNFAMILIAR_SMOKE_RESULTS_V1.md; UNFAMILIAR_STUDIO_ACCURACY_V2.md. Upstream model pretraining overlap is unresolved. Synthetic views of one portrait do not supply independent identities.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research/FINAL_METHOD_REPORT.md. These are planned experiments, not completed claims. Earlier negative results remain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d43db5d3d4b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49b0f3e78b4532" /><Relationship Type="http://schemas.openxmlformats.org/officeDocument/2006/relationships/slideLayout" Target="/ppt/slideLayouts/slideLayout1.xml" Id="Re8ad1d42947942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d1d42947942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9efe03ac04236" /><Relationship Type="http://schemas.openxmlformats.org/officeDocument/2006/relationships/hyperlink" Target="https://arxiv.org/html/2109.07161v1" TargetMode="External" Id="R899a4d42e71347f0" /><Relationship Type="http://schemas.openxmlformats.org/officeDocument/2006/relationships/hyperlink" Target="https://arxiv.org/html/2403.07319v1" TargetMode="External" Id="Rc5c3de1efa0649e9" /><Relationship Type="http://schemas.openxmlformats.org/officeDocument/2006/relationships/hyperlink" Target="https://arxiv.org/html/2303.07014v1" TargetMode="External" Id="Rf36671d227134cc7" /><Relationship Type="http://schemas.openxmlformats.org/officeDocument/2006/relationships/hyperlink" Target="https://arxiv.org/html/2412.05043v1" TargetMode="External" Id="Rdaf451bffe774b38" /><Relationship Type="http://schemas.openxmlformats.org/officeDocument/2006/relationships/hyperlink" Target="https://www.ecva.net/papers/eccv_2018/papers_ECCV/papers/Xiaoming_Li_Learning_Warped_Guidance_ECCV_2018_paper.pdf" TargetMode="External" Id="R5b7096b647e9435b" /><Relationship Type="http://schemas.openxmlformats.org/officeDocument/2006/relationships/notesSlide" Target="/ppt/notesSlides/notesSlide1.xml" Id="Rd31eced7c3c348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0ea34315642fa" /><Relationship Type="http://schemas.openxmlformats.org/officeDocument/2006/relationships/hyperlink" Target="https://arxiv.org/html/2110.10395v1" TargetMode="External" Id="R270def1d75a74d46" /><Relationship Type="http://schemas.openxmlformats.org/officeDocument/2006/relationships/hyperlink" Target="https://arxiv.org/html/2210.08160v1" TargetMode="External" Id="Rd7aef2a1c2e94add" /><Relationship Type="http://schemas.openxmlformats.org/officeDocument/2006/relationships/hyperlink" Target="https://openaccess.thecvf.com/content/WACV2025/papers/Chong_Copy_or_Not_Reference-Based_Face_Image_Restoration_with_Fine_Details_WACV_2025_paper.pdf" TargetMode="External" Id="R54e2a8368b9f4ff3" /><Relationship Type="http://schemas.openxmlformats.org/officeDocument/2006/relationships/hyperlink" Target="https://arxiv.org/html/2507.10470v1" TargetMode="External" Id="R0f4f947a6ad14832" /><Relationship Type="http://schemas.openxmlformats.org/officeDocument/2006/relationships/hyperlink" Target="https://arxiv.org/html/2608.04820v1" TargetMode="External" Id="R5efe6ec6cf0f4267" /><Relationship Type="http://schemas.openxmlformats.org/officeDocument/2006/relationships/notesSlide" Target="/ppt/notesSlides/notesSlide2.xml" Id="Rc5578c30838847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428dc268946cd" /><Relationship Type="http://schemas.openxmlformats.org/officeDocument/2006/relationships/notesSlide" Target="/ppt/notesSlides/notesSlide3.xml" Id="Re8685cab862e4b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5dd3866c74cff" /><Relationship Type="http://schemas.openxmlformats.org/officeDocument/2006/relationships/notesSlide" Target="/ppt/notesSlides/notesSlide4.xml" Id="Rf30aab72f39b45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1ea35cb37408c" /><Relationship Type="http://schemas.openxmlformats.org/officeDocument/2006/relationships/notesSlide" Target="/ppt/notesSlides/notesSlide5.xml" Id="R4c1fb5dc254846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776d0d7a54111" /><Relationship Type="http://schemas.openxmlformats.org/officeDocument/2006/relationships/notesSlide" Target="/ppt/notesSlides/notesSlide6.xml" Id="Rbcf3c017493743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38b89b5aa487b" /><Relationship Type="http://schemas.openxmlformats.org/officeDocument/2006/relationships/notesSlide" Target="/ppt/notesSlides/notesSlide7.xml" Id="Rb5438deb6e8347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aba031a38408a" /><Relationship Type="http://schemas.openxmlformats.org/officeDocument/2006/relationships/notesSlide" Target="/ppt/notesSlides/notesSlide8.xml" Id="Re028213f230943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f39e17bf044e5" /><Relationship Type="http://schemas.openxmlformats.org/officeDocument/2006/relationships/notesSlide" Target="/ppt/notesSlides/notesSlide9.xml" Id="R4009e55f72e74c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516f3e6c2478b" /><Relationship Type="http://schemas.openxmlformats.org/officeDocument/2006/relationships/notesSlide" Target="/ppt/notesSlides/notesSlide10.xml" Id="R8d15cc9d896648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806d06aec471e" /><Relationship Type="http://schemas.openxmlformats.org/officeDocument/2006/relationships/notesSlide" Target="/ppt/notesSlides/notesSlide11.xml" Id="Rcc2e18df609746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92E87-2507-4F5F-9FC2-B7B39227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Published benchmark values (1/2)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CBAC0-941E-45CF-A852-C54B01C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FD88C-E0FE-4DD6-B237-01B8EFCD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Different benchmarks. Paper names link to the original source.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14750"/>
                <a:gridCol w="1666875"/>
                <a:gridCol w="1571625"/>
                <a:gridCol w="1590675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/ setting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899a4d42e71347f0"/>
                        </a:rPr>
                        <a:t>LaMa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CelebA-HQ, wide masks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.098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c5c3de1efa0649e9"/>
                        </a:rPr>
                        <a:t>ResShift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CelebA-Test, four masks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.1506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f36671d227134cc7"/>
                        </a:rPr>
                        <a:t>RefFaceInpainting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Author data, 30%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.083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daf451bffe774b38"/>
                        </a:rPr>
                        <a:t>ReF-LDM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FFHQ-Ref-Severe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.429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b7096b647e9435b"/>
                        </a:rPr>
                        <a:t>GFRNet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VGGFace2, 4x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28.55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.947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C7CE9-D1FE-44DD-A745-B1D40C03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NR = not reported in the selected table. Exact source rows and protocols appear in notes.</a:t>
            </a:r>
          </a:p>
        </p:txBody>
      </p:sp>
    </p:spTree>
    <p:extLst>
      <p:ext uri="{BB962C8B-B14F-4D97-AF65-F5344CB8AC3E}">
        <p14:creationId xmlns:p14="http://schemas.microsoft.com/office/powerpoint/2010/main" val="351040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87431-625D-4161-871E-968AA5D2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Published benchmark values (2/2)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F1026-E03F-40E3-A569-B30D48AE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C941E-2F50-4CDA-9B5C-43137BE6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Different benchmarks. Paper names link to the original source.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14750"/>
                <a:gridCol w="1666875"/>
                <a:gridCol w="1571625"/>
                <a:gridCol w="1590675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/ setting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270def1d75a74d46"/>
                        </a:rPr>
                        <a:t>3DFaceFill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CelebA-HQ, face masks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29.9398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.9492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.0365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d7aef2a1c2e94add"/>
                        </a:rPr>
                        <a:t>DMDNet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CelebRef-HQ, 4x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28.97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.902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.166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4e2a8368b9f4ff3"/>
                        </a:rPr>
                        <a:t>ReFine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CASIA-WebFace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.803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.158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0f4f947a6ad14832"/>
                        </a:rPr>
                        <a:t>RefSTAR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Celeb-Ref-Test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24.69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.335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efe6ec6cf0f4267"/>
                        </a:rPr>
                        <a:t>ReSem-Face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CelebAHQ-IDI-5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28.31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.904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B3191-87F9-4936-9A06-1FF011AB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NR = not reported in the selected table. Exact source rows and protocols appear in notes.</a:t>
            </a:r>
          </a:p>
        </p:txBody>
      </p:sp>
    </p:spTree>
    <p:extLst>
      <p:ext uri="{BB962C8B-B14F-4D97-AF65-F5344CB8AC3E}">
        <p14:creationId xmlns:p14="http://schemas.microsoft.com/office/powerpoint/2010/main" val="1431407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92AF5-59E3-492E-BAA1-E617F50C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Matched comparison with our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E7B24-58FF-45D8-8A65-9AE15C8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44812-6257-4FD1-B5A8-6FC5F9F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Same local inputs and generation settings. Targets remain blurred/noisy.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85950"/>
                <a:gridCol w="1885950"/>
                <a:gridCol w="1885950"/>
                <a:gridCol w="188595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FaceNet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Local ReF-LDM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24.04671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0.63723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0.26544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0.91158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Feature ablation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24.03612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0.63665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0.26653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0.91174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Our regional adapter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24.05182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0.63730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0.26477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0.90670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3B5BA-C5D3-4949-B0B9-97304AAF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Small pixel/perceptual gains accompany lower identity similarity.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F7E88-32A5-454A-88A4-01A2D2B2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Four development identities, one seed. The ablation retains detection confidence.</a:t>
            </a:r>
          </a:p>
        </p:txBody>
      </p:sp>
    </p:spTree>
    <p:extLst>
      <p:ext uri="{BB962C8B-B14F-4D97-AF65-F5344CB8AC3E}">
        <p14:creationId xmlns:p14="http://schemas.microsoft.com/office/powerpoint/2010/main" val="823698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CAD91-EDB2-46FB-827D-86DBC38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Reference-corruption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64848-9376-4969-A455-57684C9E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Our adapter minus local ReF-LDM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LPIPS (lower is better)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-0.000128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Relative LPIPS reduction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0.047%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PSNR change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+0.0058 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Eye-region crop LPIPS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Slightly worse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Identity measurements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Three FaceNet measurements unavailable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8939C-C5ED-40AA-92C6-AEDC4956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Work in progress: improve LPIPS toward the planned 0.005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78077-DED8-48D9-B4A3-89F97C55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Future scope: complete identity measurements and validate across more identities and seeds.</a:t>
            </a:r>
          </a:p>
        </p:txBody>
      </p:sp>
    </p:spTree>
    <p:extLst>
      <p:ext uri="{BB962C8B-B14F-4D97-AF65-F5344CB8AC3E}">
        <p14:creationId xmlns:p14="http://schemas.microsoft.com/office/powerpoint/2010/main" val="1922504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C53F0-DF39-420C-A7A7-54A075C5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Identity-aware experiment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0FE78-EA89-429E-9EF6-64A8A919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8BE34-3DB8-4A75-A5AA-E119ECE2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Audit: 15 saved-image checks reproduce the earlier metrics exactly.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956D4-DA42-4819-83B5-5DB6DBC8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Training: 16 identities, 193 parameters, two arms with 64 updates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69FD0-34AE-4734-90BA-D2723B0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New objective: frozen FaceNet identity loss every fourth update.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5B63C-DD6A-4E81-B7DB-05EF48E2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Evaluation: 4 development identities, 3 inference seeds, 2 conditions.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398A1-DB93-4466-B3EA-8FC334E4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Completed: 96 generations and 16 byte-exact prior-output replays.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51517-0B03-4FD8-A4EF-45B3E019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 pretrained backbone and recognition encoder remain frozen.</a:t>
            </a:r>
          </a:p>
        </p:txBody>
      </p:sp>
    </p:spTree>
    <p:extLst>
      <p:ext uri="{BB962C8B-B14F-4D97-AF65-F5344CB8AC3E}">
        <p14:creationId xmlns:p14="http://schemas.microsoft.com/office/powerpoint/2010/main" val="1340712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FD11E-15DB-4F18-9272-1EB2251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Latest results: clean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0CBCE-3087-44D6-A6C8-416AA91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85950"/>
                <a:gridCol w="1885950"/>
                <a:gridCol w="1885950"/>
                <a:gridCol w="18859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FaceNet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Local ReF-LDM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23.86081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0.91497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Previous regional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23.85222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0.63474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0.27730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0.91329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Diffusion-only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23.85331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0.91296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Identity-aware adapter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23.84613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0.63458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0.27750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0.91048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0E361-5781-4F45-82F1-33162F82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Identity supervision still needs improvement on clean-reference fidelity.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BF3A4-6920-472A-9A88-2D6C06A8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Three-seed means. Earlier slides use one seed and remain a separate experiment.</a:t>
            </a:r>
          </a:p>
        </p:txBody>
      </p:sp>
    </p:spTree>
    <p:extLst>
      <p:ext uri="{BB962C8B-B14F-4D97-AF65-F5344CB8AC3E}">
        <p14:creationId xmlns:p14="http://schemas.microsoft.com/office/powerpoint/2010/main" val="1664860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E1CC7-FD5C-4B13-938E-0801AF5F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Latest results: misleading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06028-4086-4BED-B6D7-F565827F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85950"/>
                <a:gridCol w="1885950"/>
                <a:gridCol w="1885950"/>
                <a:gridCol w="18859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FaceNet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Local ReF-LDM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23.84680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0.63377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0.90545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Previous regional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23.85419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0.63390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0.27765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0.90663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Diffusion-only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23.84512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0.63388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0.89762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Identity-aware adapter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23.86112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0.63401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0.27791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0.90433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D0327-5FAD-4ACE-801C-C139B143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Pixel measures improve slightly; FaceNet and full-image LPIPS remain below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D5FA5-F30E-4DB3-9618-5562120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Three-seed means. Earlier slides use one seed and remain a separate experiment.</a:t>
            </a:r>
          </a:p>
        </p:txBody>
      </p:sp>
    </p:spTree>
    <p:extLst>
      <p:ext uri="{BB962C8B-B14F-4D97-AF65-F5344CB8AC3E}">
        <p14:creationId xmlns:p14="http://schemas.microsoft.com/office/powerpoint/2010/main" val="1322771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11407-4D27-47DE-882C-9D0DF23E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Regional quality and identity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33522-44EB-4F45-9531-F407E2C2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667000"/>
                <a:gridCol w="2114550"/>
                <a:gridCol w="228600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 / references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Eye crop 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ArcFace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 ArcFace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Baseline / clean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0.83960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8 /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Baseline / misleading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0.12800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0.83625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8 / 12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Identity-aware / clean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0.12757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0.83758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8 /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Identity-aware / misleading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0.12609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0.83863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8 / 12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2A706-F606-4A5F-BCD2-9612B95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Average eye-region distance improves. Per-seed fidelity remains work in progress.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D4CD6-E1B4-473E-B630-A47A37AF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FaceNet supervises training. ArcFace provides a separate, partially available measurement.</a:t>
            </a:r>
          </a:p>
        </p:txBody>
      </p:sp>
    </p:spTree>
    <p:extLst>
      <p:ext uri="{BB962C8B-B14F-4D97-AF65-F5344CB8AC3E}">
        <p14:creationId xmlns:p14="http://schemas.microsoft.com/office/powerpoint/2010/main" val="1622421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44D04-3C84-44A2-8E2E-E19B8D8D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What the accuracy measurements mean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5EF38-AC6F-4A56-8BB8-8A1D2616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714750"/>
                <a:gridCol w="401955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Measurement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Latest experiment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Generation success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96 / 96 outputs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100% jobs completed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FaceNet detection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96 / 96 outputs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100% one-face detections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FaceNet similarity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0.90433 with misleading refs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Cosine similarity, not 90.433%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Eye crop LPIPS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0.12609 with misleading refs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Lower perceptual distance is better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E1EFB-2E1B-49C1-B89F-16EBC019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A completed or detected face may still have incorrect eyes, gaze or identity details.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0D07F-D3F3-414D-B370-0EEA6FD1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There is no single verified reconstruction-accuracy percentage for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7775520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78C43-BB39-44F6-A5C3-E1031A19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Tested faces and unknown client images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016D0-3673-4E9F-8CE8-1E88C458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3619500"/>
                <a:gridCol w="4067175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Image category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available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conclusion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Adapter-training identities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16 used for 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Training loss is not test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Development dataset faces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4 identities outside adapter training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Measured quality on 3 seeds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Upstream pretrained exposure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Not independently 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Cannot separate seen/unseen pretraining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External client portraits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Qualitative tests and visible failures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No verified percentage correctness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FC62A-0F81-4FC8-8C71-C681C66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Unknown-person accuracy needs independent portraits, valid references and suitable ground truth.</a:t>
            </a:r>
          </a:p>
        </p:txBody>
      </p:sp>
    </p:spTree>
    <p:extLst>
      <p:ext uri="{BB962C8B-B14F-4D97-AF65-F5344CB8AC3E}">
        <p14:creationId xmlns:p14="http://schemas.microsoft.com/office/powerpoint/2010/main" val="37467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3343C-2843-45E5-9832-DE1ECF54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Work in progress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80DD7-9BD4-490E-B4A8-42847F9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30704-22A1-4A1B-BF3E-8763D490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Align identity-training crops with the frozen evaluation crop procedure.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D7CEE-51BF-4999-AF6E-26A6527B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Improve identity and full-image perceptual quality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F4630-4268-4346-B091-9EC9470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Test reliability gating and regional losses one change at a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6A914-5FFF-4CA8-85AF-2AFF978F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Validate more identities and reference corruptions after a passing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BD1A6-D281-4894-853C-4BE3F019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Evaluate independent client portraits and reserve final test identities.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8DE02-9FF3-40E5-A2A7-1E509183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 working local ReF-LDM baseline remains deployed while research continues.</a:t>
            </a:r>
          </a:p>
        </p:txBody>
      </p:sp>
    </p:spTree>
    <p:extLst>
      <p:ext uri="{BB962C8B-B14F-4D97-AF65-F5344CB8AC3E}">
        <p14:creationId xmlns:p14="http://schemas.microsoft.com/office/powerpoint/2010/main" val="322619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2026-10-02T17:44:04.2450000Z</dcterms:created>
  <dcterms:modified xsi:type="dcterms:W3CDTF">2026-10-02T17:44:04.2450000Z</dcterms:modified>
</coreProperties>
</file>