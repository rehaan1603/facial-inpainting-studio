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5698c47d184dea" /><Relationship Type="http://schemas.openxmlformats.org/officeDocument/2006/relationships/extended-properties" Target="/docProps/app.xml" Id="Rf19c87d272324710" /><Relationship Type="http://schemas.openxmlformats.org/officeDocument/2006/relationships/officeDocument" Target="/ppt/presentation.xml" Id="R21845a8a396943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b72f86fcdd4dc9"/>
  </p:sldMasterIdLst>
  <p:notesMasterIdLst>
    <p:notesMasterId xmlns:r="http://schemas.openxmlformats.org/officeDocument/2006/relationships" r:id="R94d0f43b7a8540ba"/>
  </p:notesMasterIdLst>
  <p:sldIdLst>
    <p:sldId xmlns:r="http://schemas.openxmlformats.org/officeDocument/2006/relationships" id="256" r:id="R5e11d9b4d4c04ac9"/>
    <p:sldId xmlns:r="http://schemas.openxmlformats.org/officeDocument/2006/relationships" id="257" r:id="R45d188bbd1344d14"/>
    <p:sldId xmlns:r="http://schemas.openxmlformats.org/officeDocument/2006/relationships" id="258" r:id="R5ee3f229ba054334"/>
    <p:sldId xmlns:r="http://schemas.openxmlformats.org/officeDocument/2006/relationships" id="259" r:id="Rdf90481af4814b9f"/>
    <p:sldId xmlns:r="http://schemas.openxmlformats.org/officeDocument/2006/relationships" id="260" r:id="Rc08a5ceb3a814423"/>
    <p:sldId xmlns:r="http://schemas.openxmlformats.org/officeDocument/2006/relationships" id="261" r:id="Ra44f7e8126e041f6"/>
    <p:sldId xmlns:r="http://schemas.openxmlformats.org/officeDocument/2006/relationships" id="262" r:id="Rd3875e228d2d449b"/>
    <p:sldId xmlns:r="http://schemas.openxmlformats.org/officeDocument/2006/relationships" id="263" r:id="R8b7cae43b87641f7"/>
    <p:sldId xmlns:r="http://schemas.openxmlformats.org/officeDocument/2006/relationships" id="264" r:id="Re42b613dd9094bdf"/>
    <p:sldId xmlns:r="http://schemas.openxmlformats.org/officeDocument/2006/relationships" id="265" r:id="Rbede4300efa44f36"/>
    <p:sldId xmlns:r="http://schemas.openxmlformats.org/officeDocument/2006/relationships" id="266" r:id="R2bc66314e0d24713"/>
    <p:sldId xmlns:r="http://schemas.openxmlformats.org/officeDocument/2006/relationships" id="267" r:id="R866dfeb07964479b"/>
    <p:sldId xmlns:r="http://schemas.openxmlformats.org/officeDocument/2006/relationships" id="268" r:id="Rf0e1cd1ffd3e4450"/>
    <p:sldId xmlns:r="http://schemas.openxmlformats.org/officeDocument/2006/relationships" id="269" r:id="R9652cb0d4b6645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c160a87ce7438f" /><Relationship Type="http://schemas.openxmlformats.org/officeDocument/2006/relationships/slideMaster" Target="/ppt/slideMasters/slideMaster1.xml" Id="Rc3b72f86fcdd4dc9" /><Relationship Type="http://schemas.openxmlformats.org/officeDocument/2006/relationships/notesMaster" Target="/ppt/notesMasters/notesMaster1.xml" Id="R94d0f43b7a8540ba" /><Relationship Type="http://schemas.openxmlformats.org/officeDocument/2006/relationships/presProps" Target="/ppt/presProps.xml" Id="Rd718daa395e344aa" /><Relationship Type="http://schemas.openxmlformats.org/officeDocument/2006/relationships/tableStyles" Target="/ppt/tableStyles.xml" Id="Rad93ce0a41f9488d" /><Relationship Type="http://schemas.openxmlformats.org/officeDocument/2006/relationships/slide" Target="/ppt/slides/slide1.xml" Id="R5e11d9b4d4c04ac9" /><Relationship Type="http://schemas.openxmlformats.org/officeDocument/2006/relationships/slide" Target="/ppt/slides/slide2.xml" Id="R45d188bbd1344d14" /><Relationship Type="http://schemas.openxmlformats.org/officeDocument/2006/relationships/slide" Target="/ppt/slides/slide3.xml" Id="R5ee3f229ba054334" /><Relationship Type="http://schemas.openxmlformats.org/officeDocument/2006/relationships/slide" Target="/ppt/slides/slide4.xml" Id="Rdf90481af4814b9f" /><Relationship Type="http://schemas.openxmlformats.org/officeDocument/2006/relationships/slide" Target="/ppt/slides/slide5.xml" Id="Rc08a5ceb3a814423" /><Relationship Type="http://schemas.openxmlformats.org/officeDocument/2006/relationships/slide" Target="/ppt/slides/slide6.xml" Id="Ra44f7e8126e041f6" /><Relationship Type="http://schemas.openxmlformats.org/officeDocument/2006/relationships/slide" Target="/ppt/slides/slide7.xml" Id="Rd3875e228d2d449b" /><Relationship Type="http://schemas.openxmlformats.org/officeDocument/2006/relationships/slide" Target="/ppt/slides/slide8.xml" Id="R8b7cae43b87641f7" /><Relationship Type="http://schemas.openxmlformats.org/officeDocument/2006/relationships/slide" Target="/ppt/slides/slide9.xml" Id="Re42b613dd9094bdf" /><Relationship Type="http://schemas.openxmlformats.org/officeDocument/2006/relationships/slide" Target="/ppt/slides/slide10.xml" Id="Rbede4300efa44f36" /><Relationship Type="http://schemas.openxmlformats.org/officeDocument/2006/relationships/slide" Target="/ppt/slides/slide11.xml" Id="R2bc66314e0d24713" /><Relationship Type="http://schemas.openxmlformats.org/officeDocument/2006/relationships/slide" Target="/ppt/slides/slide12.xml" Id="R866dfeb07964479b" /><Relationship Type="http://schemas.openxmlformats.org/officeDocument/2006/relationships/slide" Target="/ppt/slides/slide13.xml" Id="Rf0e1cd1ffd3e4450" /><Relationship Type="http://schemas.openxmlformats.org/officeDocument/2006/relationships/slide" Target="/ppt/slides/slide14.xml" Id="R9652cb0d4b6645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d39a272bd14d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6ad96066214cf1" /><Relationship Type="http://schemas.openxmlformats.org/officeDocument/2006/relationships/notesMaster" Target="/ppt/notesMasters/notesMaster1.xml" Id="Rb65896c5429e4b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8782467e2947dc" /><Relationship Type="http://schemas.openxmlformats.org/officeDocument/2006/relationships/notesMaster" Target="/ppt/notesMasters/notesMaster1.xml" Id="R8030e2ac92de48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e0897490d846ff" /><Relationship Type="http://schemas.openxmlformats.org/officeDocument/2006/relationships/notesMaster" Target="/ppt/notesMasters/notesMaster1.xml" Id="R422dee43dd9648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970a6cfa164e16" /><Relationship Type="http://schemas.openxmlformats.org/officeDocument/2006/relationships/notesMaster" Target="/ppt/notesMasters/notesMaster1.xml" Id="Rd593d4a866f343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b0d184cced4b32" /><Relationship Type="http://schemas.openxmlformats.org/officeDocument/2006/relationships/notesMaster" Target="/ppt/notesMasters/notesMaster1.xml" Id="R03b07755fe794c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b9d7f01b4845e9" /><Relationship Type="http://schemas.openxmlformats.org/officeDocument/2006/relationships/notesMaster" Target="/ppt/notesMasters/notesMaster1.xml" Id="R59d4dfff30bf4f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41c9c98bac4685" /><Relationship Type="http://schemas.openxmlformats.org/officeDocument/2006/relationships/notesMaster" Target="/ppt/notesMasters/notesMaster1.xml" Id="R230e5116699541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31638ada164809" /><Relationship Type="http://schemas.openxmlformats.org/officeDocument/2006/relationships/notesMaster" Target="/ppt/notesMasters/notesMaster1.xml" Id="R65830053c00842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653e6c02a24f61" /><Relationship Type="http://schemas.openxmlformats.org/officeDocument/2006/relationships/notesMaster" Target="/ppt/notesMasters/notesMaster1.xml" Id="R4f3b73eba89945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bff537c36f4b53" /><Relationship Type="http://schemas.openxmlformats.org/officeDocument/2006/relationships/notesMaster" Target="/ppt/notesMasters/notesMaster1.xml" Id="Re4b744ebfb0942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8865e895b04bf5" /><Relationship Type="http://schemas.openxmlformats.org/officeDocument/2006/relationships/notesMaster" Target="/ppt/notesMasters/notesMaster1.xml" Id="Rf27588384a264d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64b1ef3a814c44" /><Relationship Type="http://schemas.openxmlformats.org/officeDocument/2006/relationships/notesMaster" Target="/ppt/notesMasters/notesMaster1.xml" Id="R1a58d5d241f944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639897f836940ab" /><Relationship Type="http://schemas.openxmlformats.org/officeDocument/2006/relationships/notesMaster" Target="/ppt/notesMasters/notesMaster1.xml" Id="R2f46b7a7273543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d3996c41274ffe" /><Relationship Type="http://schemas.openxmlformats.org/officeDocument/2006/relationships/notesMaster" Target="/ppt/notesMasters/notesMaster1.xml" Id="Rf1a08c4756894d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 ArcFace has 8 valid pairs out of 12 per method/condition. Metrics are averages over observed development images.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 ArcFace has 8 valid pairs out of 12 per method/condition. Metrics are averages over observed development images.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 Hardware measured locally through nvidia-smi and Win32_ComputerSystem. TotalPhysicalMemory=33943117824 bytes. GPU dedicated capacity 8151 MiB. Peak torch allocated 8489.434 MiB. Shared memory use was not separately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 Mechanism inspection: target_region_compatibility_v1.py. Causal explanations beyond measured loss trade-offs remain hypotheses.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research/IDENTITY_TIMESTEP_V5_TIMESTEP_SCALED.md. 64 updates, 24 new outputs, same four observed identities and three inference seeds.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 already-observed identity, one official target, seed17; only reference encoding changes. Local metrics, not published benchmark reproduction. Source: research/refldm_encoding_smoke_v1.json. One target, identity 6681, 100 DDIM steps, five references, float32, seed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outputs/identity_balance_v4/{balanced_fixed,balanced_capped}/{config,training,trace,scores}.json; research/IDENTITY_BALANCE_RESULTS_V4.md. 3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context only. Different datasets, tasks and protocols prohibit ranking these scores against ours. Sources: [LaMa-Fourier, Table 1](https://arxiv.org/html/2109.07161v1)</a:t>
            </a:r>
          </a:p>
          <a:p xmlns:a="http://schemas.openxmlformats.org/drawingml/2006/main">
            <a:r>
              <a:t>[Extended ResShift, Table V](https://arxiv.org/html/2403.07319v1)</a:t>
            </a:r>
          </a:p>
          <a:p xmlns:a="http://schemas.openxmlformats.org/drawingml/2006/main">
            <a:r>
              <a:t>[RefFaceInpainting, Table I](https://arxiv.org/html/2303.07014v1)</a:t>
            </a:r>
          </a:p>
          <a:p xmlns:a="http://schemas.openxmlformats.org/drawingml/2006/main">
            <a:r>
              <a:t>[ReF-LDM, Table 7](https://arxiv.org/html/2412.05043v1)</a:t>
            </a:r>
          </a:p>
          <a:p xmlns:a="http://schemas.openxmlformats.org/drawingml/2006/main">
            <a:r>
              <a:t>[GFRNet, Table 1](https://www.ecva.net/papers/eccv_2018/papers_ECCV/papers/Xiaoming_Li_Learning_Warped_Guidance_ECCV_2018_paper.pdf)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context only. Different datasets, tasks and protocols prohibit ranking these scores against ours. Sources: [3DFaceFill, Figure 4(d)](https://arxiv.org/html/2110.10395v1)</a:t>
            </a:r>
          </a:p>
          <a:p xmlns:a="http://schemas.openxmlformats.org/drawingml/2006/main">
            <a:r>
              <a:t>[DMDNet, Table II](https://arxiv.org/html/2210.08160v1)</a:t>
            </a:r>
          </a:p>
          <a:p xmlns:a="http://schemas.openxmlformats.org/drawingml/2006/main">
            <a:r>
              <a:t>[ReFine, Table 1](https://openaccess.thecvf.com/content/WACV2025/papers/Chong_Copy_or_Not_Reference-Based_Face_Image_Restoration_with_Fine_Details_WACV_2025_paper.pdf)</a:t>
            </a:r>
          </a:p>
          <a:p xmlns:a="http://schemas.openxmlformats.org/drawingml/2006/main">
            <a:r>
              <a:t>[RefSTAR, Table 1](https://arxiv.org/html/2507.10470v1)</a:t>
            </a:r>
          </a:p>
          <a:p xmlns:a="http://schemas.openxmlformats.org/drawingml/2006/main">
            <a:r>
              <a:t>[ReSem-Face, Table 1](https://arxiv.org/html/2608.04820v1)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51700021f941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fdc97483bb442c" /><Relationship Type="http://schemas.openxmlformats.org/officeDocument/2006/relationships/slideLayout" Target="/ppt/slideLayouts/slideLayout1.xml" Id="R0b278ee3e4164c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278ee3e4164c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84245271a4971" /><Relationship Type="http://schemas.openxmlformats.org/officeDocument/2006/relationships/notesSlide" Target="/ppt/notesSlides/notesSlide1.xml" Id="R8f5bf336c00644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893762a714b92" /><Relationship Type="http://schemas.openxmlformats.org/officeDocument/2006/relationships/notesSlide" Target="/ppt/notesSlides/notesSlide2.xml" Id="R7807116cd8454a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d9e95fcf84cc6" /><Relationship Type="http://schemas.openxmlformats.org/officeDocument/2006/relationships/notesSlide" Target="/ppt/notesSlides/notesSlide3.xml" Id="R0bbb906a21634f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03c7f7ec04f02" /><Relationship Type="http://schemas.openxmlformats.org/officeDocument/2006/relationships/notesSlide" Target="/ppt/notesSlides/notesSlide4.xml" Id="Rf6f5980c850d45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d98910a0c48c3" /><Relationship Type="http://schemas.openxmlformats.org/officeDocument/2006/relationships/notesSlide" Target="/ppt/notesSlides/notesSlide5.xml" Id="R258e7f805d4244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ef346b2e74542" /><Relationship Type="http://schemas.openxmlformats.org/officeDocument/2006/relationships/notesSlide" Target="/ppt/notesSlides/notesSlide6.xml" Id="Rdfaef1b2940e4f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522abc143458a" /><Relationship Type="http://schemas.openxmlformats.org/officeDocument/2006/relationships/notesSlide" Target="/ppt/notesSlides/notesSlide7.xml" Id="R9e821fa6417141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0dd1fd6f84a6e" /><Relationship Type="http://schemas.openxmlformats.org/officeDocument/2006/relationships/notesSlide" Target="/ppt/notesSlides/notesSlide8.xml" Id="R46b35edfe6c04f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898c35eac466f" /><Relationship Type="http://schemas.openxmlformats.org/officeDocument/2006/relationships/notesSlide" Target="/ppt/notesSlides/notesSlide9.xml" Id="R1b64395efa6f41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fc9d5a5f5459f" /><Relationship Type="http://schemas.openxmlformats.org/officeDocument/2006/relationships/notesSlide" Target="/ppt/notesSlides/notesSlide10.xml" Id="R05f5b4fb5eb94c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4f0ce53174ac7" /><Relationship Type="http://schemas.openxmlformats.org/officeDocument/2006/relationships/notesSlide" Target="/ppt/notesSlides/notesSlide11.xml" Id="R2f314237878d46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bb4609a18460e" /><Relationship Type="http://schemas.openxmlformats.org/officeDocument/2006/relationships/notesSlide" Target="/ppt/notesSlides/notesSlide12.xml" Id="R0fa59a5adad046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945bcba0d4190" /><Relationship Type="http://schemas.openxmlformats.org/officeDocument/2006/relationships/hyperlink" Target="https://arxiv.org/html/2109.07161v1" TargetMode="External" Id="R488eba71c3c94b40" /><Relationship Type="http://schemas.openxmlformats.org/officeDocument/2006/relationships/hyperlink" Target="https://arxiv.org/html/2403.07319v1" TargetMode="External" Id="R25da4f31825f4a1c" /><Relationship Type="http://schemas.openxmlformats.org/officeDocument/2006/relationships/hyperlink" Target="https://arxiv.org/html/2303.07014v1" TargetMode="External" Id="R01f507382098422c" /><Relationship Type="http://schemas.openxmlformats.org/officeDocument/2006/relationships/hyperlink" Target="https://arxiv.org/html/2412.05043v1" TargetMode="External" Id="R81992e75b888472e" /><Relationship Type="http://schemas.openxmlformats.org/officeDocument/2006/relationships/hyperlink" Target="https://www.ecva.net/papers/eccv_2018/papers_ECCV/papers/Xiaoming_Li_Learning_Warped_Guidance_ECCV_2018_paper.pdf" TargetMode="External" Id="R63d7c5f4dfcf4591" /><Relationship Type="http://schemas.openxmlformats.org/officeDocument/2006/relationships/notesSlide" Target="/ppt/notesSlides/notesSlide13.xml" Id="R52fac9d2539e4a6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b6cdeb5c545a6" /><Relationship Type="http://schemas.openxmlformats.org/officeDocument/2006/relationships/hyperlink" Target="https://arxiv.org/html/2110.10395v1" TargetMode="External" Id="Rac7ea835a61d4124" /><Relationship Type="http://schemas.openxmlformats.org/officeDocument/2006/relationships/hyperlink" Target="https://arxiv.org/html/2210.08160v1" TargetMode="External" Id="R23fb9b64ea8f44d1" /><Relationship Type="http://schemas.openxmlformats.org/officeDocument/2006/relationships/hyperlink" Target="https://openaccess.thecvf.com/content/WACV2025/papers/Chong_Copy_or_Not_Reference-Based_Face_Image_Restoration_with_Fine_Details_WACV_2025_paper.pdf" TargetMode="External" Id="R2fa5216fe76848e6" /><Relationship Type="http://schemas.openxmlformats.org/officeDocument/2006/relationships/hyperlink" Target="https://arxiv.org/html/2507.10470v1" TargetMode="External" Id="Rc5cb85afd647422d" /><Relationship Type="http://schemas.openxmlformats.org/officeDocument/2006/relationships/hyperlink" Target="https://arxiv.org/html/2608.04820v1" TargetMode="External" Id="R8473921656da4c1b" /><Relationship Type="http://schemas.openxmlformats.org/officeDocument/2006/relationships/notesSlide" Target="/ppt/notesSlides/notesSlide14.xml" Id="R1c9a64c0fdef47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3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2D856-04FE-43B4-9614-6A3259B7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Facial Inpainting</a:t>
            </a:r>
          </a:p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2A3AE-7E34-4DFB-8748-4F7CEF65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8BE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8BE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A8D45-1C7E-4259-ACC7-43DAE019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67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Latest research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F3B66-B134-4608-85CB-EE47812D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671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C6DDE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6DDE3"/>
                </a:solidFill>
                <a:latin typeface="Arial"/>
                <a:ea typeface="Arial"/>
                <a:cs typeface="Arial"/>
              </a:rPr>
              <a:t>Balanced identity supervision and capped gradients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7C6B5-44F6-47CC-9138-C687061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911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6DDE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C6DDE3"/>
                </a:solidFill>
                <a:latin typeface="Arial"/>
                <a:ea typeface="Arial"/>
                <a:cs typeface="Arial"/>
              </a:rPr>
              <a:t>5 October 2026</a:t>
            </a:r>
          </a:p>
          <a:p xmlns:a="http://schemas.openxmlformats.org/drawingml/2006/main">
            <a:pPr>
              <a:defRPr sz="1950" b="0">
                <a:solidFill>
                  <a:srgbClr val="C6DDE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C6DDE3"/>
                </a:solidFill>
                <a:latin typeface="Arial"/>
                <a:ea typeface="Arial"/>
                <a:cs typeface="Arial"/>
              </a:rPr>
              <a:t>Research 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1091460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7DE79-8B60-40E1-979F-FD40D2B5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Current method and training objective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8B7A0-A8E7-4F24-8863-9E9C10D2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8F5C8-0A94-47DE-9C0B-CF8E746C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Frozen ReF-LDM restores a degraded target using four references.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B1A72-B129-4204-8002-ABED8FB9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A 193-parameter regional adapter biases 16 attention layers.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E0849-1392-46AC-9AF4-63509FD3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Target and reference features inform regional compatibility weights.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77A55-10D0-4073-82F8-6E39CD8F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Loss combines diffusion reconstruction with cropped FaceNet similarity.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BD488-06F9-4F07-B055-26DA8678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Both candidates receive 64 updates and identical training examples.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EBE25-B7ED-4299-AB7F-8174A1F4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The frozen backbone and recognition encoder receive no parameter updates.</a:t>
            </a:r>
          </a:p>
        </p:txBody>
      </p:sp>
    </p:spTree>
    <p:extLst>
      <p:ext uri="{BB962C8B-B14F-4D97-AF65-F5344CB8AC3E}">
        <p14:creationId xmlns:p14="http://schemas.microsoft.com/office/powerpoint/2010/main" val="15990122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05687-7224-46F6-9937-A204DA6B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Matched evaluation protocol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DDDAE-0251-4A9C-95CA-A7E6AFB1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77B15-6F96-4B84-A270-9FB4A5E4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Training: 16 identities, four identity-supervised updates per identity.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28110-1FE6-4790-8DE8-7B36081C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Development: four separate identities, inference seeds 17, 29 and 43.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E7065-D2B8-476A-8097-6ACAB34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Conditions: clean references and a wrong-person patch in one reference.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66C15-2560-441C-8328-323A830D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Generation: 512 pixels, 50 DDIM steps, guidance 1.5, identical inputs.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06CAD4-48F2-4EE4-BB81-326A0023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Completed: 48 new outputs and 72 distinct verified control images.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49280-4800-4FC2-9F84-0D7CF4D1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This screen tests full-image blur/noise restoration. Erased-region inpainting needs separate tests.</a:t>
            </a:r>
          </a:p>
        </p:txBody>
      </p:sp>
    </p:spTree>
    <p:extLst>
      <p:ext uri="{BB962C8B-B14F-4D97-AF65-F5344CB8AC3E}">
        <p14:creationId xmlns:p14="http://schemas.microsoft.com/office/powerpoint/2010/main" val="902474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5F27B-F792-4C85-B0F5-F8E19725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Latest results with clean 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FBC95-8760-4F15-8BD1-8993E274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76550"/>
                <a:gridCol w="1619250"/>
                <a:gridCol w="1619250"/>
                <a:gridCol w="1619250"/>
                <a:gridCol w="1619250"/>
                <a:gridCol w="1619250"/>
              </a:tblGrid>
              <a:tr h="6191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FaceNet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Eye 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Local ReF-LDM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23.86081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0.63481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0.91497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0.12901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Balanced fixed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23.86150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0.63479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0.27757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0.91271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0.12928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Balanced capped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23.86587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0.63465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0.27707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0.91184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0.12843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1E4F1-22E7-45E4-8D10-4AE4E00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053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ArcFace: baseline 0.83960, fixed 0.83876, capped 0.83715 (8/12 valid each)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2E76A-349F-46AE-80E7-D4308B00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149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Capped loss improves PSNR and LPIPS, but identity similarity decreases.</a:t>
            </a:r>
          </a:p>
        </p:txBody>
      </p:sp>
    </p:spTree>
    <p:extLst>
      <p:ext uri="{BB962C8B-B14F-4D97-AF65-F5344CB8AC3E}">
        <p14:creationId xmlns:p14="http://schemas.microsoft.com/office/powerpoint/2010/main" val="1306552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D62DB-97DE-4E48-A8A6-91A1005C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Latest results with misleading 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C6F95-2FB0-457A-ACD9-9F3E88CC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76550"/>
                <a:gridCol w="1619250"/>
                <a:gridCol w="1619250"/>
                <a:gridCol w="1619250"/>
                <a:gridCol w="1619250"/>
                <a:gridCol w="1619250"/>
              </a:tblGrid>
              <a:tr h="6191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FaceNet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Eye 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Local ReF-LDM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23.84680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0.63377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0.90545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Balanced fixed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23.86336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0.63374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0.27780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0.90173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0.13006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Balanced capped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23.84916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0.63390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0.90700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0.12841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8FC04-F860-4603-BD4B-B1BB189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053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ArcFace: baseline 0.83625, fixed 0.83831, capped 0.83808 (8/12 valid each)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D64A0-712B-409D-BA79-CDD1F53F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149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Capped loss improves identity similarity, but perceptual and eye errors rise.</a:t>
            </a:r>
          </a:p>
        </p:txBody>
      </p:sp>
    </p:spTree>
    <p:extLst>
      <p:ext uri="{BB962C8B-B14F-4D97-AF65-F5344CB8AC3E}">
        <p14:creationId xmlns:p14="http://schemas.microsoft.com/office/powerpoint/2010/main" val="5647054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00EEC-C722-4CBC-BE01-98383BFD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What the gradient cap changed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0065F-E7A3-4777-9999-D8613ABB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24550"/>
                <a:gridCol w="2524125"/>
                <a:gridCol w="2524125"/>
              </a:tblGrid>
              <a:tr h="6000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Training diagnostic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Fixed weight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Capped weight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Identity-supervised updates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Training identity coverage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16 of 16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16 of 16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Maximum identity / reconstruction gradient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55.21×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1.00×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GPU training time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291.8 seconds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288.7 seconds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6D1A9-5E0D-4C13-A1C5-C356092D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The cap controls loss imbalance. Quality improvements still trade off across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CCB00-56AC-4ECB-A576-65877E14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Work in progress: preserve identity and perceptual quality together.</a:t>
            </a:r>
          </a:p>
        </p:txBody>
      </p:sp>
    </p:spTree>
    <p:extLst>
      <p:ext uri="{BB962C8B-B14F-4D97-AF65-F5344CB8AC3E}">
        <p14:creationId xmlns:p14="http://schemas.microsoft.com/office/powerpoint/2010/main" val="4779563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02697-B29F-4E0F-A92A-BEB162A8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Hardware constraints and their implications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CB1BF-69AC-4F7B-8E4E-584B18CA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6210300"/>
              </a:tblGrid>
              <a:tr h="704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Resource / measurement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means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RTX 5070 Laptop GPU, about 8 GB VRAM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Limits feasible batch size and model training scope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About 32 GB system RAM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No measured evidence that system RAM caused score limits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Peak allocated tensors: about 8.29 GiB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Memory pressure is high. Dedicated-memory headroom is unverified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Observed training utilization: 95–100%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The GPU was busy. Utilization does not measure image accuracy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2026B-5D1C-4FC4-95DC-B9E89789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A larger GPU could support larger experiments. Better scores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19939925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F8957-DA15-4E59-B65A-8BD008FA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Why current quality remains limited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1C171-1B07-4B31-B969-7000A778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95AB9-BE07-41D1-ADBD-D538BF67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Measured trade-off: the same candidate gains some metrics and loses others.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4905B-4DC9-4B71-A9A1-7E40A649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The adapter has only 193 trainable parameters on a frozen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D431B-5366-4813-A393-61798C2B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Current relative reference weights cannot independently reject all references.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397B6-C511-422B-968E-00C07C1E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Blur and noise remove detail. Reconstruction can infer incorrect facial features.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B49CD-2F0C-426E-BD89-5C0271D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More RAM or GPU memory alone has no demonstrated effect on these scores.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E98D0-0E91-4390-A214-7257B928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Mechanism capacity and reference rejection are hypotheses to test through controlled ablations.</a:t>
            </a:r>
          </a:p>
        </p:txBody>
      </p:sp>
    </p:spTree>
    <p:extLst>
      <p:ext uri="{BB962C8B-B14F-4D97-AF65-F5344CB8AC3E}">
        <p14:creationId xmlns:p14="http://schemas.microsoft.com/office/powerpoint/2010/main" val="14504876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4070B-28E2-4DFC-B99E-593128CD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Evidence for unknown client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EF06F-F711-4847-9283-D0B40B08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68289-C61C-416E-93A3-90CAE5A3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Four development identities remain separate from adapter training.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86FB7-F670-49D8-99E9-3CE08A8A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Exposure during upstream backbone pretraining has not been verified.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98BA5-C0DB-4CB1-A45D-3C0E9D97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Three inference seeds share one training seed and a small identity sample.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840EE-589A-4731-AE8D-321AA252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ArcFace returns valid comparisons for 8 of 12 outputs per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F510D-469B-4E21-BD8B-46F3A27B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Independent client-image accuracy remains future evaluation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21F38-0B32-4734-AAEE-44A3F258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FaceNet cosine is a similarity score. A value of 0.907 does not mean 90.7% reconstruction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6192466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3F35A-8FEA-4CAB-8BAD-8562E56F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Latest follow-up: timestep identity loss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5CBE3-5C75-4799-8A23-75B66135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76550"/>
                <a:gridCol w="1619250"/>
                <a:gridCol w="1619250"/>
                <a:gridCol w="1619250"/>
                <a:gridCol w="1619250"/>
                <a:gridCol w="1619250"/>
              </a:tblGrid>
              <a:tr h="6191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Condition / method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FaceNet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Eye 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Clean / baseline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23.86081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0.63481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0.91497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0.12901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Clean / scaled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23.85949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0.63501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0.27743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0.91623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0.13018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Misleading / baseline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23.84680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0.63377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0.27769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0.90545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Misleading / scaled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23.84852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0.63387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0.27823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0.90414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0.12647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D64DA-3F9B-4466-B5C6-D1E7FBB7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Scaling improves some identity/eye measures but raises LPIPS in both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5F13D-F4E7-4CF9-8FA0-DE5C689F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Work in progress: all quality criteria must improve together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521365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7330D-39D6-4A52-AFDC-ADB644E4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Author-style input encoding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3E545-90FC-4F9F-8E98-4CA12E92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76550"/>
                <a:gridCol w="1619250"/>
                <a:gridCol w="1619250"/>
                <a:gridCol w="1619250"/>
                <a:gridCol w="1619250"/>
                <a:gridCol w="1619250"/>
              </a:tblGrid>
              <a:tr h="698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Encoding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FaceNet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Peak GiB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Together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22.94182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0.55095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0.24070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0.89641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7.09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Separately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22.87994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0.55037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0.24114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0.87150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2.38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F4035-55A5-440C-8524-7E243674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91000"/>
            <a:ext cx="10715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Same input and model. Only reference encoding changes.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BF716-1B76-42E9-99DC-7C21AEB3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0715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One observed identity cannot establish benchmark superiority.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10624-AE98-4AF7-9DAD-72742509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72100"/>
            <a:ext cx="10715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ArcFace is unavailable because target detection failed.</a:t>
            </a:r>
          </a:p>
        </p:txBody>
      </p:sp>
    </p:spTree>
    <p:extLst>
      <p:ext uri="{BB962C8B-B14F-4D97-AF65-F5344CB8AC3E}">
        <p14:creationId xmlns:p14="http://schemas.microsoft.com/office/powerpoint/2010/main" val="8764001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364CE-49C2-4BB7-894E-8AABC462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Work in progress and future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016F1-D647-497A-88DD-7E60013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6999D-BD3E-4E54-B550-5B0FF5FE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Investigate explicit rejection of unreliable reference information.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A44EB-56DD-4471-8DF3-C515633C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Test identity and local perceptual losses with matched ablations.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9ABCD-9CC8-4C35-8A14-3BF8D20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Require gains across identity, perceptual and eye-region measurements.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24E3D-29D9-4C59-A6C5-1AE7D501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Then expand identities, corruption types and independent training seeds.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2B468-BBBF-4980-9462-DDDC1A82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1071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348"/>
                </a:solidFill>
                <a:latin typeface="Arial"/>
                <a:ea typeface="Arial"/>
                <a:cs typeface="Arial"/>
              </a:rPr>
              <a:t>Use reserved final data only after candidate selection is complete.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9088D-C243-425E-9605-729B647B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The current production model stays unchanged while research candidates undergo validation.</a:t>
            </a:r>
          </a:p>
        </p:txBody>
      </p:sp>
    </p:spTree>
    <p:extLst>
      <p:ext uri="{BB962C8B-B14F-4D97-AF65-F5344CB8AC3E}">
        <p14:creationId xmlns:p14="http://schemas.microsoft.com/office/powerpoint/2010/main" val="10846353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596AE-3BED-49E3-8A67-9EFE4D84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Published benchmark values (1/2)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3563D-6A1F-4DB5-96E4-67DD9A15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16566-CA6C-4F74-ADC8-06365951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620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Different benchmarks. Paper names link to the original source.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3714750"/>
                <a:gridCol w="1666875"/>
                <a:gridCol w="1571625"/>
                <a:gridCol w="1590675"/>
              </a:tblGrid>
              <a:tr h="555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Paper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Dataset / setting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488eba71c3c94b40"/>
                        </a:rPr>
                        <a:t>LaMa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CelebA-HQ, wide masks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.098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25da4f31825f4a1c"/>
                        </a:rPr>
                        <a:t>ResShift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CelebA-Test, four masks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.1506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01f507382098422c"/>
                        </a:rPr>
                        <a:t>RefFaceInpainting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Author data, 30% mask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.083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81992e75b888472e"/>
                        </a:rPr>
                        <a:t>ReF-LDM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FFHQ-Ref-Severe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.429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63d7c5f4dfcf4591"/>
                        </a:rPr>
                        <a:t>GFRNet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VGGFace2, 4x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28.55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.947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7A327-1508-4A47-A6FA-23489C02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NR = not reported in the selected table. Exact source rows and protocols appear in notes.</a:t>
            </a:r>
          </a:p>
        </p:txBody>
      </p:sp>
    </p:spTree>
    <p:extLst>
      <p:ext uri="{BB962C8B-B14F-4D97-AF65-F5344CB8AC3E}">
        <p14:creationId xmlns:p14="http://schemas.microsoft.com/office/powerpoint/2010/main" val="14584489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BE942-ECCA-4828-A9F4-43384D2B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34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8"/>
                </a:solidFill>
                <a:latin typeface="Arial"/>
                <a:ea typeface="Arial"/>
                <a:cs typeface="Arial"/>
              </a:rPr>
              <a:t>Published benchmark values (2/2)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1F47C-2CF2-49F2-859C-DFBFCEDF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92AB4-128D-4EB1-AC54-818D98B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620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854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85424"/>
                </a:solidFill>
                <a:latin typeface="Arial"/>
                <a:ea typeface="Arial"/>
                <a:cs typeface="Arial"/>
              </a:rPr>
              <a:t>Different benchmarks. Paper names link to the original source.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3714750"/>
                <a:gridCol w="1666875"/>
                <a:gridCol w="1571625"/>
                <a:gridCol w="1590675"/>
              </a:tblGrid>
              <a:tr h="555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Paper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Dataset / setting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SSIM ↑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LPIPS ↓</a:t>
                      </a:r>
                    </a:p>
                  </a:txBody>
                  <a:tcPr marL="91440" marR="91440" marT="45720" marB="45720">
                    <a:solidFill>
                      <a:srgbClr val="17334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ac7ea835a61d4124"/>
                        </a:rPr>
                        <a:t>3DFaceFill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CelebA-HQ, face masks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29.9398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.9492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.0365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23fb9b64ea8f44d1"/>
                        </a:rPr>
                        <a:t>DMDNet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CelebRef-HQ, 4x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28.97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.902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.166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2fa5216fe76848e6"/>
                        </a:rPr>
                        <a:t>ReFine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CASIA-WebFace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23.77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.803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.158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c5cb85afd647422d"/>
                        </a:rPr>
                        <a:t>RefSTAR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Celeb-Ref-Test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24.69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NR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.335</a:t>
                      </a:r>
                    </a:p>
                  </a:txBody>
                  <a:tcPr marL="91440" marR="91440" marT="45720" marB="45720">
                    <a:solidFill>
                      <a:srgbClr val="EDF2F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007F87"/>
                          </a:solidFill>
                          <a:latin typeface="Arial"/>
                          <a:ea typeface="Arial"/>
                          <a:cs typeface="Arial"/>
                          <a:hlinkClick xmlns:r="http://schemas.openxmlformats.org/officeDocument/2006/relationships" r:id="R8473921656da4c1b"/>
                        </a:rPr>
                        <a:t>ReSem-Face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CelebAHQ-IDI-5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28.31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.904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348"/>
                          </a:solidFill>
                          <a:latin typeface="Arial"/>
                          <a:ea typeface="Arial"/>
                          <a:cs typeface="Arial"/>
                        </a:rPr>
                        <a:t>.116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5ABF7-3C99-423D-80D5-F6CB0AA9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626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77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777"/>
                </a:solidFill>
                <a:latin typeface="Arial"/>
                <a:ea typeface="Arial"/>
                <a:cs typeface="Arial"/>
              </a:rPr>
              <a:t>NR = not reported in the selected table. Exact source rows and protocols appear in notes.</a:t>
            </a:r>
          </a:p>
        </p:txBody>
      </p:sp>
    </p:spTree>
    <p:extLst>
      <p:ext uri="{BB962C8B-B14F-4D97-AF65-F5344CB8AC3E}">
        <p14:creationId xmlns:p14="http://schemas.microsoft.com/office/powerpoint/2010/main" val="111622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2026-10-05T06:07:20.2110000Z</dcterms:created>
  <dcterms:modified xsi:type="dcterms:W3CDTF">2026-10-05T06:07:20.2110000Z</dcterms:modified>
</coreProperties>
</file>