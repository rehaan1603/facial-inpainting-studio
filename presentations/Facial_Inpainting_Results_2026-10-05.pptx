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1990c849b41d9" /><Relationship Type="http://schemas.openxmlformats.org/officeDocument/2006/relationships/extended-properties" Target="/docProps/app.xml" Id="R506fd350dd0045e3" /><Relationship Type="http://schemas.openxmlformats.org/officeDocument/2006/relationships/officeDocument" Target="/ppt/presentation.xml" Id="R19982b01cc3a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e37035f6e84668"/>
  </p:sldMasterIdLst>
  <p:notesMasterIdLst>
    <p:notesMasterId xmlns:r="http://schemas.openxmlformats.org/officeDocument/2006/relationships" r:id="R35bd5c121c2a4fdf"/>
  </p:notesMasterIdLst>
  <p:sldIdLst>
    <p:sldId xmlns:r="http://schemas.openxmlformats.org/officeDocument/2006/relationships" id="256" r:id="R87724d933a6b49ac"/>
    <p:sldId xmlns:r="http://schemas.openxmlformats.org/officeDocument/2006/relationships" id="257" r:id="R41ad012823014912"/>
    <p:sldId xmlns:r="http://schemas.openxmlformats.org/officeDocument/2006/relationships" id="258" r:id="R4b31c6dcbd0e46bf"/>
    <p:sldId xmlns:r="http://schemas.openxmlformats.org/officeDocument/2006/relationships" id="259" r:id="R44e5491dca134022"/>
    <p:sldId xmlns:r="http://schemas.openxmlformats.org/officeDocument/2006/relationships" id="260" r:id="R62cf3ead2f944f8e"/>
    <p:sldId xmlns:r="http://schemas.openxmlformats.org/officeDocument/2006/relationships" id="261" r:id="Rd93969ed518a4aec"/>
    <p:sldId xmlns:r="http://schemas.openxmlformats.org/officeDocument/2006/relationships" id="262" r:id="R885f38e361fe4198"/>
    <p:sldId xmlns:r="http://schemas.openxmlformats.org/officeDocument/2006/relationships" id="263" r:id="R39d4e1ea9dd7436c"/>
    <p:sldId xmlns:r="http://schemas.openxmlformats.org/officeDocument/2006/relationships" id="264" r:id="R659d556ec9ae492e"/>
    <p:sldId xmlns:r="http://schemas.openxmlformats.org/officeDocument/2006/relationships" id="265" r:id="R540b6551204a410a"/>
    <p:sldId xmlns:r="http://schemas.openxmlformats.org/officeDocument/2006/relationships" id="266" r:id="R9c678e74bfc64026"/>
    <p:sldId xmlns:r="http://schemas.openxmlformats.org/officeDocument/2006/relationships" id="267" r:id="Rd308e049cf494860"/>
    <p:sldId xmlns:r="http://schemas.openxmlformats.org/officeDocument/2006/relationships" id="268" r:id="R3c8bf1a6ef72483d"/>
    <p:sldId xmlns:r="http://schemas.openxmlformats.org/officeDocument/2006/relationships" id="269" r:id="R8a9373b568e7470b"/>
    <p:sldId xmlns:r="http://schemas.openxmlformats.org/officeDocument/2006/relationships" id="270" r:id="R3bf6cc0032404276"/>
    <p:sldId xmlns:r="http://schemas.openxmlformats.org/officeDocument/2006/relationships" id="271" r:id="R835c34469b5140c9"/>
    <p:sldId xmlns:r="http://schemas.openxmlformats.org/officeDocument/2006/relationships" id="272" r:id="R6f44c0b69fe44d07"/>
    <p:sldId xmlns:r="http://schemas.openxmlformats.org/officeDocument/2006/relationships" id="273" r:id="Rf452066d958b4e53"/>
    <p:sldId xmlns:r="http://schemas.openxmlformats.org/officeDocument/2006/relationships" id="274" r:id="R5dd1a950dd6547d2"/>
    <p:sldId xmlns:r="http://schemas.openxmlformats.org/officeDocument/2006/relationships" id="275" r:id="R3d81aed2cf98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2671db4ab4316" /><Relationship Type="http://schemas.openxmlformats.org/officeDocument/2006/relationships/slideMaster" Target="/ppt/slideMasters/slideMaster1.xml" Id="R06e37035f6e84668" /><Relationship Type="http://schemas.openxmlformats.org/officeDocument/2006/relationships/notesMaster" Target="/ppt/notesMasters/notesMaster1.xml" Id="R35bd5c121c2a4fdf" /><Relationship Type="http://schemas.openxmlformats.org/officeDocument/2006/relationships/presProps" Target="/ppt/presProps.xml" Id="R92e24017679d4a4a" /><Relationship Type="http://schemas.openxmlformats.org/officeDocument/2006/relationships/tableStyles" Target="/ppt/tableStyles.xml" Id="Rdd09d9316be748e7" /><Relationship Type="http://schemas.openxmlformats.org/officeDocument/2006/relationships/slide" Target="/ppt/slides/slide1.xml" Id="R87724d933a6b49ac" /><Relationship Type="http://schemas.openxmlformats.org/officeDocument/2006/relationships/slide" Target="/ppt/slides/slide2.xml" Id="R41ad012823014912" /><Relationship Type="http://schemas.openxmlformats.org/officeDocument/2006/relationships/slide" Target="/ppt/slides/slide3.xml" Id="R4b31c6dcbd0e46bf" /><Relationship Type="http://schemas.openxmlformats.org/officeDocument/2006/relationships/slide" Target="/ppt/slides/slide4.xml" Id="R44e5491dca134022" /><Relationship Type="http://schemas.openxmlformats.org/officeDocument/2006/relationships/slide" Target="/ppt/slides/slide5.xml" Id="R62cf3ead2f944f8e" /><Relationship Type="http://schemas.openxmlformats.org/officeDocument/2006/relationships/slide" Target="/ppt/slides/slide6.xml" Id="Rd93969ed518a4aec" /><Relationship Type="http://schemas.openxmlformats.org/officeDocument/2006/relationships/slide" Target="/ppt/slides/slide7.xml" Id="R885f38e361fe4198" /><Relationship Type="http://schemas.openxmlformats.org/officeDocument/2006/relationships/slide" Target="/ppt/slides/slide8.xml" Id="R39d4e1ea9dd7436c" /><Relationship Type="http://schemas.openxmlformats.org/officeDocument/2006/relationships/slide" Target="/ppt/slides/slide9.xml" Id="R659d556ec9ae492e" /><Relationship Type="http://schemas.openxmlformats.org/officeDocument/2006/relationships/slide" Target="/ppt/slides/slide10.xml" Id="R540b6551204a410a" /><Relationship Type="http://schemas.openxmlformats.org/officeDocument/2006/relationships/slide" Target="/ppt/slides/slide11.xml" Id="R9c678e74bfc64026" /><Relationship Type="http://schemas.openxmlformats.org/officeDocument/2006/relationships/slide" Target="/ppt/slides/slide12.xml" Id="Rd308e049cf494860" /><Relationship Type="http://schemas.openxmlformats.org/officeDocument/2006/relationships/slide" Target="/ppt/slides/slide13.xml" Id="R3c8bf1a6ef72483d" /><Relationship Type="http://schemas.openxmlformats.org/officeDocument/2006/relationships/slide" Target="/ppt/slides/slide14.xml" Id="R8a9373b568e7470b" /><Relationship Type="http://schemas.openxmlformats.org/officeDocument/2006/relationships/slide" Target="/ppt/slides/slide15.xml" Id="R3bf6cc0032404276" /><Relationship Type="http://schemas.openxmlformats.org/officeDocument/2006/relationships/slide" Target="/ppt/slides/slide16.xml" Id="R835c34469b5140c9" /><Relationship Type="http://schemas.openxmlformats.org/officeDocument/2006/relationships/slide" Target="/ppt/slides/slide17.xml" Id="R6f44c0b69fe44d07" /><Relationship Type="http://schemas.openxmlformats.org/officeDocument/2006/relationships/slide" Target="/ppt/slides/slide18.xml" Id="Rf452066d958b4e53" /><Relationship Type="http://schemas.openxmlformats.org/officeDocument/2006/relationships/slide" Target="/ppt/slides/slide19.xml" Id="R5dd1a950dd6547d2" /><Relationship Type="http://schemas.openxmlformats.org/officeDocument/2006/relationships/slide" Target="/ppt/slides/slide20.xml" Id="R3d81aed2cf984d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6e4426adce4d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d50ffd7cb4ed4" /><Relationship Type="http://schemas.openxmlformats.org/officeDocument/2006/relationships/notesMaster" Target="/ppt/notesMasters/notesMaster1.xml" Id="R82976990ae80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b5ce868394e1c" /><Relationship Type="http://schemas.openxmlformats.org/officeDocument/2006/relationships/notesMaster" Target="/ppt/notesMasters/notesMaster1.xml" Id="Re7e5e4b25d7543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d0f7180824f69" /><Relationship Type="http://schemas.openxmlformats.org/officeDocument/2006/relationships/notesMaster" Target="/ppt/notesMasters/notesMaster1.xml" Id="R59bb8985e59e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a75487a8bf4c4a" /><Relationship Type="http://schemas.openxmlformats.org/officeDocument/2006/relationships/notesMaster" Target="/ppt/notesMasters/notesMaster1.xml" Id="R98ade33a85d64e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0ee96e902542e7" /><Relationship Type="http://schemas.openxmlformats.org/officeDocument/2006/relationships/notesMaster" Target="/ppt/notesMasters/notesMaster1.xml" Id="Rff4a4d2e2e17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272694c90545e0" /><Relationship Type="http://schemas.openxmlformats.org/officeDocument/2006/relationships/notesMaster" Target="/ppt/notesMasters/notesMaster1.xml" Id="Rc496e745a8b34b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43fc21cf14d17" /><Relationship Type="http://schemas.openxmlformats.org/officeDocument/2006/relationships/notesMaster" Target="/ppt/notesMasters/notesMaster1.xml" Id="R8773e46925ba45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24cb5f988f4542" /><Relationship Type="http://schemas.openxmlformats.org/officeDocument/2006/relationships/notesMaster" Target="/ppt/notesMasters/notesMaster1.xml" Id="R9a51f58a09204d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6afffb6d4c4ed9" /><Relationship Type="http://schemas.openxmlformats.org/officeDocument/2006/relationships/notesMaster" Target="/ppt/notesMasters/notesMaster1.xml" Id="Re9e8dcd8d46441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7fa829dbcb430f" /><Relationship Type="http://schemas.openxmlformats.org/officeDocument/2006/relationships/notesMaster" Target="/ppt/notesMasters/notesMaster1.xml" Id="R777ee250244c49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f22a8eda84607" /><Relationship Type="http://schemas.openxmlformats.org/officeDocument/2006/relationships/notesMaster" Target="/ppt/notesMasters/notesMaster1.xml" Id="R98bb39fa435546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8b1b21c9a349b3" /><Relationship Type="http://schemas.openxmlformats.org/officeDocument/2006/relationships/notesMaster" Target="/ppt/notesMasters/notesMaster1.xml" Id="Re51da6d5176941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e4c81ae4db4469" /><Relationship Type="http://schemas.openxmlformats.org/officeDocument/2006/relationships/notesMaster" Target="/ppt/notesMasters/notesMaster1.xml" Id="Rdb09b054dff343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b7627749c045de" /><Relationship Type="http://schemas.openxmlformats.org/officeDocument/2006/relationships/notesMaster" Target="/ppt/notesMasters/notesMaster1.xml" Id="Rd205f833580f47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de12dd0f71429b" /><Relationship Type="http://schemas.openxmlformats.org/officeDocument/2006/relationships/notesMaster" Target="/ppt/notesMasters/notesMaster1.xml" Id="R9f54e0f272c049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39da570c8c43ca" /><Relationship Type="http://schemas.openxmlformats.org/officeDocument/2006/relationships/notesMaster" Target="/ppt/notesMasters/notesMaster1.xml" Id="Ra9579bff88e149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029c33978f4a41" /><Relationship Type="http://schemas.openxmlformats.org/officeDocument/2006/relationships/notesMaster" Target="/ppt/notesMasters/notesMaster1.xml" Id="R0b5719cd529545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c074503d3342be" /><Relationship Type="http://schemas.openxmlformats.org/officeDocument/2006/relationships/notesMaster" Target="/ppt/notesMasters/notesMaster1.xml" Id="R59e335e9c4be4c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ba31d4a2a8427e" /><Relationship Type="http://schemas.openxmlformats.org/officeDocument/2006/relationships/notesMaster" Target="/ppt/notesMasters/notesMaster1.xml" Id="Rf48653993b484d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d7f4a5a3984734" /><Relationship Type="http://schemas.openxmlformats.org/officeDocument/2006/relationships/notesMaster" Target="/ppt/notesMasters/notesMaster1.xml" Id="R6904334408a44c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scripts/target_region_compatibility_v1.py; reference_intervention_core.py; train_identity_timestep_v5.py. Frozen backbone. Canonical regions are approximations, not learned segmentation. Diagram summarizes the research adapter, not all website backends.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 Additional source: train_identity_timestep_v5.py. Loss weights and code are preserved in saved configurations.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 Earlier coverage: research/target_compatibility_results_v1.json and scripts/train_target_compatibility_v1.py.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 ArcFace has 8 valid pairs out of 12 per method/condition. Metrics are averages over observed development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 ArcFace has 8 valid pairs out of 12 per method/condition. Metrics are averages over observed development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scope, not latest candidate results. Source: research/target_compatibility_results_v1.json. Four development identities, seed17. Means retain available detector support; FaceNet rows with unequal counts are not paired effect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 Hardware measured locally through nvidia-smi and Win32_ComputerSystem. TotalPhysicalMemory=33943117824 bytes. GPU dedicated capacity 8151 MiB. Peak torch allocated 8489.434 MiB. Shared memory use was not separately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 Mechanism inspection: target_region_compatibility_v1.py. Causal explanations beyond measured loss trade-offs remain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research/IDENTITY_TIMESTEP_V5_TIMESTEP_SCALED.md. 64 updates, 24 new outputs, same four observed identities and three inference seeds.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already-observed identity, one official target, seed17; only reference encoding changes. Local metrics, not published benchmark reproduction. Source: research/refldm_encoding_smoke_v1.json. One target, identity 6681, 100 DDIM steps, five references, float32, seed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outputs/identity_balance_v4/{balanced_fixed,balanced_capped}/{config,training,trace,scores}.json; research/IDENTITY_BALANCE_RESULTS_V4.md.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context only. Different datasets, tasks and protocols prohibit ranking these scores against ours. Sources: [LaMa-Fourier, Table 1](https://arxiv.org/html/2109.07161v1)</a:t>
            </a:r>
          </a:p>
          <a:p xmlns:a="http://schemas.openxmlformats.org/drawingml/2006/main">
            <a:r>
              <a:t>[Extended ResShift, Table V](https://arxiv.org/html/2403.07319v1)</a:t>
            </a:r>
          </a:p>
          <a:p xmlns:a="http://schemas.openxmlformats.org/drawingml/2006/main">
            <a:r>
              <a:t>[RefFaceInpainting, Table I](https://arxiv.org/html/2303.07014v1)</a:t>
            </a:r>
          </a:p>
          <a:p xmlns:a="http://schemas.openxmlformats.org/drawingml/2006/main">
            <a:r>
              <a:t>[ReF-LDM, Table 7](https://arxiv.org/html/2412.05043v1)</a:t>
            </a:r>
          </a:p>
          <a:p xmlns:a="http://schemas.openxmlformats.org/drawingml/2006/main">
            <a:r>
              <a:t>[GFRNet, Table 1](https://www.ecva.net/papers/eccv_2018/papers_ECCV/papers/Xiaoming_Li_Learning_Warped_Guidance_ECCV_2018_paper.pdf)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context only. Different datasets, tasks and protocols prohibit ranking these scores against ours. Sources: [3DFaceFill, Figure 4(d)](https://arxiv.org/html/2110.10395v1)</a:t>
            </a:r>
          </a:p>
          <a:p xmlns:a="http://schemas.openxmlformats.org/drawingml/2006/main">
            <a:r>
              <a:t>[DMDNet, Table II](https://arxiv.org/html/2210.08160v1)</a:t>
            </a:r>
          </a:p>
          <a:p xmlns:a="http://schemas.openxmlformats.org/drawingml/2006/main">
            <a:r>
              <a:t>[ReFine, Table 1](https://openaccess.thecvf.com/content/WACV2025/papers/Chong_Copy_or_Not_Reference-Based_Face_Image_Restoration_with_Fine_Details_WACV_2025_paper.pdf)</a:t>
            </a:r>
          </a:p>
          <a:p xmlns:a="http://schemas.openxmlformats.org/drawingml/2006/main">
            <a:r>
              <a:t>[RefSTAR, Table 1](https://arxiv.org/html/2507.10470v1)</a:t>
            </a:r>
          </a:p>
          <a:p xmlns:a="http://schemas.openxmlformats.org/drawingml/2006/main">
            <a:r>
              <a:t>[ReSem-Face, Table 1](https://arxiv.org/html/2608.04820v1)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b9e8ba92c40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9d5030c84f4564" /><Relationship Type="http://schemas.openxmlformats.org/officeDocument/2006/relationships/slideLayout" Target="/ppt/slideLayouts/slideLayout1.xml" Id="Rc542275142de4c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2275142de4c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07ddf2a674862" /><Relationship Type="http://schemas.openxmlformats.org/officeDocument/2006/relationships/notesSlide" Target="/ppt/notesSlides/notesSlide1.xml" Id="R3a5bc845a5d8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30b6e5df4953" /><Relationship Type="http://schemas.openxmlformats.org/officeDocument/2006/relationships/notesSlide" Target="/ppt/notesSlides/notesSlide2.xml" Id="R5491dbacfc7a4f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77407bb0a4e58" /><Relationship Type="http://schemas.openxmlformats.org/officeDocument/2006/relationships/notesSlide" Target="/ppt/notesSlides/notesSlide3.xml" Id="Rde7408a14be442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51cd4512844dd" /><Relationship Type="http://schemas.openxmlformats.org/officeDocument/2006/relationships/notesSlide" Target="/ppt/notesSlides/notesSlide4.xml" Id="R7cf488130fd240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4a1a56a324b3c" /><Relationship Type="http://schemas.openxmlformats.org/officeDocument/2006/relationships/notesSlide" Target="/ppt/notesSlides/notesSlide5.xml" Id="Rcc50d6010e3741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6e88927b64c7d" /><Relationship Type="http://schemas.openxmlformats.org/officeDocument/2006/relationships/notesSlide" Target="/ppt/notesSlides/notesSlide6.xml" Id="R2499790dba404e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abf2e4fb9451f" /><Relationship Type="http://schemas.openxmlformats.org/officeDocument/2006/relationships/notesSlide" Target="/ppt/notesSlides/notesSlide7.xml" Id="R9122cbf8d6cc4d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54d0a394c4e21" /><Relationship Type="http://schemas.openxmlformats.org/officeDocument/2006/relationships/notesSlide" Target="/ppt/notesSlides/notesSlide8.xml" Id="R90b284ef41de45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d286e9dec4e85" /><Relationship Type="http://schemas.openxmlformats.org/officeDocument/2006/relationships/notesSlide" Target="/ppt/notesSlides/notesSlide9.xml" Id="Rd72e1e6d516047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6ac26d7454f23" /><Relationship Type="http://schemas.openxmlformats.org/officeDocument/2006/relationships/notesSlide" Target="/ppt/notesSlides/notesSlide10.xml" Id="Rc938b6c83c7e40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24bac1f3a493a" /><Relationship Type="http://schemas.openxmlformats.org/officeDocument/2006/relationships/notesSlide" Target="/ppt/notesSlides/notesSlide11.xml" Id="Rb96c0ce6bf6b4f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ab741e4854f7c" /><Relationship Type="http://schemas.openxmlformats.org/officeDocument/2006/relationships/notesSlide" Target="/ppt/notesSlides/notesSlide12.xml" Id="R74c72aa3046b4c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3b84653864735" /><Relationship Type="http://schemas.openxmlformats.org/officeDocument/2006/relationships/notesSlide" Target="/ppt/notesSlides/notesSlide13.xml" Id="R434e424f22204c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f6292bc0a467a" /><Relationship Type="http://schemas.openxmlformats.org/officeDocument/2006/relationships/notesSlide" Target="/ppt/notesSlides/notesSlide14.xml" Id="R38ba79940d8a42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55653f4794eeb" /><Relationship Type="http://schemas.openxmlformats.org/officeDocument/2006/relationships/notesSlide" Target="/ppt/notesSlides/notesSlide15.xml" Id="R898e68007e204d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a7f2243714f23" /><Relationship Type="http://schemas.openxmlformats.org/officeDocument/2006/relationships/notesSlide" Target="/ppt/notesSlides/notesSlide16.xml" Id="R0d4edd2f57b343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aa8a40a974f09" /><Relationship Type="http://schemas.openxmlformats.org/officeDocument/2006/relationships/notesSlide" Target="/ppt/notesSlides/notesSlide17.xml" Id="Re3c7d7ce7fdf4a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bdbd090364861" /><Relationship Type="http://schemas.openxmlformats.org/officeDocument/2006/relationships/notesSlide" Target="/ppt/notesSlides/notesSlide18.xml" Id="R04550120a0a84c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5d9d7dda4087" /><Relationship Type="http://schemas.openxmlformats.org/officeDocument/2006/relationships/hyperlink" Target="https://arxiv.org/html/2109.07161v1" TargetMode="External" Id="R407ef62e9c1b4d4a" /><Relationship Type="http://schemas.openxmlformats.org/officeDocument/2006/relationships/hyperlink" Target="https://arxiv.org/html/2403.07319v1" TargetMode="External" Id="R1de89fe048cd4473" /><Relationship Type="http://schemas.openxmlformats.org/officeDocument/2006/relationships/hyperlink" Target="https://arxiv.org/html/2303.07014v1" TargetMode="External" Id="R4f33520334d4462d" /><Relationship Type="http://schemas.openxmlformats.org/officeDocument/2006/relationships/hyperlink" Target="https://arxiv.org/html/2412.05043v1" TargetMode="External" Id="Rcebaf57392e04911" /><Relationship Type="http://schemas.openxmlformats.org/officeDocument/2006/relationships/hyperlink" Target="https://www.ecva.net/papers/eccv_2018/papers_ECCV/papers/Xiaoming_Li_Learning_Warped_Guidance_ECCV_2018_paper.pdf" TargetMode="External" Id="R14a9de7ce16f4392" /><Relationship Type="http://schemas.openxmlformats.org/officeDocument/2006/relationships/notesSlide" Target="/ppt/notesSlides/notesSlide19.xml" Id="R26bf6afc6f8043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1f0412b964514" /><Relationship Type="http://schemas.openxmlformats.org/officeDocument/2006/relationships/hyperlink" Target="https://arxiv.org/html/2110.10395v1" TargetMode="External" Id="R844fb434d1514967" /><Relationship Type="http://schemas.openxmlformats.org/officeDocument/2006/relationships/hyperlink" Target="https://arxiv.org/html/2210.08160v1" TargetMode="External" Id="R11219a1a36fb4c96" /><Relationship Type="http://schemas.openxmlformats.org/officeDocument/2006/relationships/hyperlink" Target="https://openaccess.thecvf.com/content/WACV2025/papers/Chong_Copy_or_Not_Reference-Based_Face_Image_Restoration_with_Fine_Details_WACV_2025_paper.pdf" TargetMode="External" Id="R50ae9d91bda047e0" /><Relationship Type="http://schemas.openxmlformats.org/officeDocument/2006/relationships/hyperlink" Target="https://arxiv.org/html/2507.10470v1" TargetMode="External" Id="Rf2bae1713e5847ce" /><Relationship Type="http://schemas.openxmlformats.org/officeDocument/2006/relationships/hyperlink" Target="https://arxiv.org/html/2608.04820v1" TargetMode="External" Id="Re0d4a158517b427d" /><Relationship Type="http://schemas.openxmlformats.org/officeDocument/2006/relationships/notesSlide" Target="/ppt/notesSlides/notesSlide20.xml" Id="R703f8a517c4446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11356-2E60-4F23-AECD-003F3431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Facial Inpainting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951CA-5F41-415A-87A4-3E9BCAF8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E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E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F9BC7-7573-4E6C-9203-6FB9261E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Latest research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978EC-BA49-4A78-A27D-451D597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6DDE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6DDE3"/>
                </a:solidFill>
                <a:latin typeface="Arial"/>
                <a:ea typeface="Arial"/>
                <a:cs typeface="Arial"/>
              </a:rPr>
              <a:t>Balanced identity supervision and capped gradients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4E55D-38DC-4AC6-9B24-85028C70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6DD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DE3"/>
                </a:solidFill>
                <a:latin typeface="Arial"/>
                <a:ea typeface="Arial"/>
                <a:cs typeface="Arial"/>
              </a:rPr>
              <a:t>5 October 2026</a:t>
            </a:r>
          </a:p>
          <a:p xmlns:a="http://schemas.openxmlformats.org/drawingml/2006/main">
            <a:pPr>
              <a:defRPr sz="1950" b="0">
                <a:solidFill>
                  <a:srgbClr val="C6DD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DE3"/>
                </a:solidFill>
                <a:latin typeface="Arial"/>
                <a:ea typeface="Arial"/>
                <a:cs typeface="Arial"/>
              </a:rPr>
              <a:t>Research 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647239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BC186-610E-4A37-90B6-3BD9FD18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Problem statement and research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86B3D-5B27-4645-8D12-3899690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71794-F8C1-451E-8EA8-CD973A6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Restore a degraded facial image using additional photographs of the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11801-B021-4D30-9B73-B6C858D1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References can differ in pose, lighting and image quality, or contain misleading content.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06791-DC2D-43CF-BF58-6D3F243B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Improve perceptual quality while preserving identity and local facial detail.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DDCC9-5671-498E-A3C0-EDA1FEC7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Compare each candidate against the same frozen local ReF-LDM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CC4C3-92F1-490C-B0B4-5E03CFEF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The latest study tests whole-image blur/noise restoration at 512 pixels.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4FF39-FF99-422B-9C0A-C0E0A3A5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application also supports inpainting, but this study does not validate every application method.</a:t>
            </a:r>
          </a:p>
        </p:txBody>
      </p:sp>
    </p:spTree>
    <p:extLst>
      <p:ext uri="{BB962C8B-B14F-4D97-AF65-F5344CB8AC3E}">
        <p14:creationId xmlns:p14="http://schemas.microsoft.com/office/powerpoint/2010/main" val="1071803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F56AC-7B8A-4FD7-8D84-EC3CF32F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86D3-C0A5-4A45-B7EC-312E7A9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A0DA2-912B-45E4-905E-D3BB82CB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Degraded target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512 × 512 RGB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C5D9C-1DDD-43F0-B1FB-82833611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8FEAA-6CD9-40C3-A885-0DD0F91B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668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Frozen VQ encoder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8 × 64 × 64 latent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8FE25-4CBE-4A10-AC0E-C7DC3974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81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E98E7-5A9D-4B76-BCA5-764010B6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48"/>
          </a:solidFill>
          <a:ln xmlns:a="http://schemas.openxmlformats.org/drawingml/2006/main" w="9525">
            <a:solidFill>
              <a:srgbClr val="17334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Frozen denoiser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 DDIM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5760C-1430-47F7-B6FD-038C1991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47C28-D441-43E2-AFBB-DEFAE564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6687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Frozen VQ decoder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Restored RGB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3DC21-A3E5-4502-B485-5903877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Four reference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photographs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81251-ED16-4DEA-AE4F-135B1918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52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4D49D-9A58-49DA-A2F6-30AF116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VQ encoder +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reference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FA89E-A841-4893-9927-B73447CA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528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0BCD6-D68B-482C-8F6F-950D0C78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Reference attention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keys /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2E1C8-5B6B-4D7D-A084-262E3B40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2860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9D2B9-835E-4DDD-A505-D4F3040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0"/>
          </a:solidFill>
          <a:ln xmlns:a="http://schemas.openxmlformats.org/drawingml/2006/main" w="9525">
            <a:solidFill>
              <a:srgbClr val="A4C4C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Target / reference</a:t>
            </a:r>
          </a:p>
          <a:p xmlns:a="http://schemas.openxmlformats.org/drawingml/2006/main">
            <a:pPr algn="ctr">
              <a:defRPr sz="187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region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12C62-9F35-4BF7-91E7-2F335B9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244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DE42-D63C-4E78-967B-014EB68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01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48"/>
          </a:solidFill>
          <a:ln xmlns:a="http://schemas.openxmlformats.org/drawingml/2006/main" w="9525">
            <a:solidFill>
              <a:srgbClr val="17334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Compatibility MLP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→ 16 →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6EB57-DE79-4757-8C2A-F1CC193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244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DFA4B-B6A9-42CB-A35F-87069CF2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48"/>
          </a:solidFill>
          <a:ln xmlns:a="http://schemas.openxmlformats.org/drawingml/2006/main" w="9525">
            <a:solidFill>
              <a:srgbClr val="17334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Regional bias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193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BD20D-981D-4318-AF85-F7F44C90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22860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7F8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F9418-6D13-40DB-A589-9F8E269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14700"/>
            <a:ext cx="2333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Target latent and sampled noise enter the U-Net.</a:t>
            </a:r>
          </a:p>
          <a:p xmlns:a="http://schemas.openxmlformats.org/drawingml/2006/main">
            <a:pPr>
              <a:defRPr sz="18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Bias modifies reference attention in 16 layers.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B0F4B-3D47-4CB9-A93F-45DEE998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Only the compatibility MLP learns. Clean target images enter training/evaluation, never inference.</a:t>
            </a:r>
          </a:p>
        </p:txBody>
      </p:sp>
    </p:spTree>
    <p:extLst>
      <p:ext uri="{BB962C8B-B14F-4D97-AF65-F5344CB8AC3E}">
        <p14:creationId xmlns:p14="http://schemas.microsoft.com/office/powerpoint/2010/main" val="152064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61DF4-FE7D-4D71-AC72-4FF495F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Training algorithm and controlled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68AA9-DBFB-40F6-A8DE-8FD6B176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54C3C-F566-46AD-8DAC-301A765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1. Encode training target, degraded input and four references.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15218-54F2-4C2B-B162-209D162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2. Extract five regional descriptors and reference-quality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298A3-37F1-4161-AE03-2D98AF1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3. Sample a timestep and noise, then predict the latent noise with attention bias.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50893-10FA-4A39-868E-AFDE6816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4. Decode the prediction and compute frozen FaceNet similarity on the face crop.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760EF-C0C3-49B2-8E90-CBBE58D7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91075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5. Update only the adapter using reconstruction plus identity loss.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8DC28-6FAA-482B-B244-5BA4DFD6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Variants: fixed identity weight, gradient-capped weight, or timestep-scaled weight.</a:t>
            </a:r>
          </a:p>
        </p:txBody>
      </p:sp>
    </p:spTree>
    <p:extLst>
      <p:ext uri="{BB962C8B-B14F-4D97-AF65-F5344CB8AC3E}">
        <p14:creationId xmlns:p14="http://schemas.microsoft.com/office/powerpoint/2010/main" val="444974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08BD-499C-451E-9213-5B6AF18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Current method and training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FCB5B-1DEF-4741-BEF5-3129548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06F95-8450-42BB-AB88-C58A989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Frozen ReF-LDM restores a degraded target using four references.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B991B-59C6-4621-BB1C-44E3A39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 193-parameter regional adapter biases 16 attention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D6189-AE44-40ED-8246-43CDC69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Target and reference features inform regional compatibility weights.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81589-3488-41E8-8E82-D2DED237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Loss combines diffusion reconstruction with cropped FaceNet similarity.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A7333-B10B-46C5-A04A-555E908F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Both candidates receive 64 updates and identical training examples.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1B8B8-F254-4904-9A4D-CFBFF42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frozen backbone and recognition encoder receive no parameter updates.</a:t>
            </a:r>
          </a:p>
        </p:txBody>
      </p:sp>
    </p:spTree>
    <p:extLst>
      <p:ext uri="{BB962C8B-B14F-4D97-AF65-F5344CB8AC3E}">
        <p14:creationId xmlns:p14="http://schemas.microsoft.com/office/powerpoint/2010/main" val="1219775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528E-50CF-4C67-A6BB-287DA22B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Matched 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97EB4-2205-449B-93DA-44934CFA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3B386-F3FF-4562-A8FC-695B832D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Training: 16 identities, four identity-supervised updates per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854C9-DAEC-4017-BDA3-B269E50D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Development: four separate identities, inference seeds 17, 29 and 43.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B11E8-A60D-4CE4-A56E-1A05F39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Conditions: clean references and a wrong-person patch in one 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C5340-742C-4CFC-B1AA-4FFF2DB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Generation: 512 pixels, 50 DDIM steps, guidance 1.5, identical inputs.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9FF7F-AFAC-4549-B496-8356635A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Completed: 48 new outputs and 72 distinct verified control images.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A921E-6A2B-4CDA-9180-1AF539F6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This screen tests full-image blur/noise restoration. Erased-region inpainting needs separate tests.</a:t>
            </a:r>
          </a:p>
        </p:txBody>
      </p:sp>
    </p:spTree>
    <p:extLst>
      <p:ext uri="{BB962C8B-B14F-4D97-AF65-F5344CB8AC3E}">
        <p14:creationId xmlns:p14="http://schemas.microsoft.com/office/powerpoint/2010/main" val="2087773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88461-45F4-42FA-A336-475C62F0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Corruption protocol and test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DFC07-A86A-4344-B5D1-AFA860B5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Latest v4 / v5 protocol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Target damage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512 → 64 → 512 bicubic resize, Gaussian RGB noise σ =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Clean-reference condition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Four references remain unchanged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Misleading-reference condition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Replace the central 256 × 256 region of reference 1 with another person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Controlled inputs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Same target, other three references, seed and generation settings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Earlier v1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Blur, noise, JPEG, downsampling, occlusion, lighting and wrong-person patch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190B9-89CA-48D2-A95F-DF77BDFC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seven-corruption study uses an older adapter and one seed. Latest variants need that broader test.</a:t>
            </a:r>
          </a:p>
        </p:txBody>
      </p:sp>
    </p:spTree>
    <p:extLst>
      <p:ext uri="{BB962C8B-B14F-4D97-AF65-F5344CB8AC3E}">
        <p14:creationId xmlns:p14="http://schemas.microsoft.com/office/powerpoint/2010/main" val="1733017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C2775-7507-446F-9555-0B91F6B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How to read the 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0AA2F-57DA-4074-94DB-480969C7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5162550"/>
                <a:gridCol w="2428875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Preferred direction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PSNR / SSIM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Pixel fidelity / structural similarity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Higher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LPIPS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Perceptual difference from ground truth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FaceNet / ArcFace cosine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Similarity of face-recognition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Higher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Eye-region LPIPS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Perceptual error in the eye bounding-box crop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NIQE / BRISQUE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No-reference naturalness diagnostics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Lower, interpreted cautiously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73B0-60B6-4F27-BDC1-C4F03E6A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FaceNet supervises training. ArcFace remains separate, with incomplete detection coverage.</a:t>
            </a:r>
          </a:p>
        </p:txBody>
      </p:sp>
    </p:spTree>
    <p:extLst>
      <p:ext uri="{BB962C8B-B14F-4D97-AF65-F5344CB8AC3E}">
        <p14:creationId xmlns:p14="http://schemas.microsoft.com/office/powerpoint/2010/main" val="1985253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EFA46-F7CA-4600-856F-6F194A9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Latest results with clean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FF2A1-7DBE-43B6-B0B3-B564E463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Eye 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Local ReF-LDM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23.86081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0.91497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Balanced fixed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23.86150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0.63479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0.27757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0.91271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0.12928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Balanced capped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23.86587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0.12843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7A401-560A-4E5D-8837-A4209A2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ArcFace: baseline 0.83960, fixed 0.83876, capped 0.83715 (8/12 valid each)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24176-F85B-41CA-9517-C1DCFBEE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Capped loss improves PSNR and LPIPS, but identity similarity decreases.</a:t>
            </a:r>
          </a:p>
        </p:txBody>
      </p:sp>
    </p:spTree>
    <p:extLst>
      <p:ext uri="{BB962C8B-B14F-4D97-AF65-F5344CB8AC3E}">
        <p14:creationId xmlns:p14="http://schemas.microsoft.com/office/powerpoint/2010/main" val="1231660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70986-9E4E-4CA3-91F7-96B3452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Latest results with misleading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32E19-4374-4E80-9898-E410AD33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Eye 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Local ReF-LDM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23.84680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Balanced fixed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23.86336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0.63374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0.27780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0.90173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0.13006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Balanced capped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23.84916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0.90700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0.12841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7370F-BF26-40A2-8533-CFBCEEB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ArcFace: baseline 0.83625, fixed 0.83831, capped 0.83808 (8/12 valid each)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D732D-7A34-42BA-A392-B762E42E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Capped loss improves identity similarity, but perceptual and eye errors rise.</a:t>
            </a:r>
          </a:p>
        </p:txBody>
      </p:sp>
    </p:spTree>
    <p:extLst>
      <p:ext uri="{BB962C8B-B14F-4D97-AF65-F5344CB8AC3E}">
        <p14:creationId xmlns:p14="http://schemas.microsoft.com/office/powerpoint/2010/main" val="904332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0D8D2-896F-4A00-9FCF-6379E5E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Earlier seven-corruption screen: v1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13AC2-D706-4597-BFCA-FC778624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952625"/>
                <a:gridCol w="1952625"/>
                <a:gridCol w="2295525"/>
                <a:gridCol w="2295525"/>
              </a:tblGrid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corruption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LPIPS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v1 LPIPS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FaceNet (n)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v1 FaceNet (n)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Blur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0.26490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0.90991 (4)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0.89843 (4)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Noise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0.29025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0.28974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0.89417 (4)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0.90322 (3)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JPEG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0.27260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0.27322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0.91372 (3)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0.90660 (3)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Downsampling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0.26786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0.26802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0.91100 (4)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0.90625 (4)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Occlusion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0.26742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0.26614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0.91167 (4)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0.91361 (4)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Lighting / color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0.26418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0.26438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0.91025 (4)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0.90916 (4)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Wrong-person patch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0.26503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0.26503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0.90060 (4)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0.89518 (4)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62E66-0CA3-42E8-A5F8-F3805C0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LPIPS lower is better. FaceNet higher is better. Unequal n reflects detector failures.</a:t>
            </a:r>
          </a:p>
        </p:txBody>
      </p:sp>
    </p:spTree>
    <p:extLst>
      <p:ext uri="{BB962C8B-B14F-4D97-AF65-F5344CB8AC3E}">
        <p14:creationId xmlns:p14="http://schemas.microsoft.com/office/powerpoint/2010/main" val="1638811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F893C-F76A-4AFB-8A1F-1297FCC1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What the gradient cap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B2A01-EFDE-40CA-BFD1-7F90F3BD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24550"/>
                <a:gridCol w="2524125"/>
                <a:gridCol w="2524125"/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diagnostic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weight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Capped weight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Identity-supervised updates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Training identity coverage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16 of 16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16 of 16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Maximum identity / reconstruction gradient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55.21×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1.00×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GPU training time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291.8 seconds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288.7 seconds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5F514-A4A5-4772-9C00-677B4F5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The cap controls loss imbalance. Quality improvements still trade off across conditions.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60E3C-2DD0-47FF-A634-1903212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Work in progress: preserve identity and perceptual quality together.</a:t>
            </a:r>
          </a:p>
        </p:txBody>
      </p:sp>
    </p:spTree>
    <p:extLst>
      <p:ext uri="{BB962C8B-B14F-4D97-AF65-F5344CB8AC3E}">
        <p14:creationId xmlns:p14="http://schemas.microsoft.com/office/powerpoint/2010/main" val="954561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49AAB-0D37-4546-A376-37A5BF89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Hardware constraints and their 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7E3BD-25D5-4772-AE04-9616C72F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21030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Resource / measurement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means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RTX 5070 Laptop GPU, about 8 GB VRAM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Limits feasible batch size and model training 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About 32 GB system RAM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No measured evidence that system RAM caused score limits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Peak allocated tensors: about 8.29 GiB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Memory pressure is high. Dedicated-memory headroom is unverified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Observed training utilization: 95–100%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The GPU was busy. Utilization does not measure image accuracy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C9DD-6330-4963-930E-17BCC4B5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A larger GPU could support larger experiments. Better scores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12463247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5CE4E-DFCB-43CB-A54E-30C1BAC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Why current quality remains limited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D16E7-3E08-4271-960E-D8D55CA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18FAD-3382-46D3-A9D9-7503FC95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Measured trade-off: the same candidate gains some metrics and loses others.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67BFC-811E-493E-A9F9-78ECC9FC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The adapter has only 193 trainable parameters on a frozen generator.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67B05-08C1-432D-B129-6194BB59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Current relative reference weights cannot independently reject all references.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520BB-646A-41FF-B4C9-A7D4B0C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Blur and noise remove detail. Reconstruction can infer incorrect facial features.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44C50-7F60-4FCB-953B-2450130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More RAM or GPU memory alone has no demonstrated effect on these scores.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DC0EC-6C9D-4806-82F6-BA184545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Mechanism capacity and reference rejection are hypotheses to test through controlled ablations.</a:t>
            </a:r>
          </a:p>
        </p:txBody>
      </p:sp>
    </p:spTree>
    <p:extLst>
      <p:ext uri="{BB962C8B-B14F-4D97-AF65-F5344CB8AC3E}">
        <p14:creationId xmlns:p14="http://schemas.microsoft.com/office/powerpoint/2010/main" val="779007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0441B-A4EA-44A3-8313-C84DFCB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Evidence for unknown client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99CE9-8824-49B9-B3E3-F164DC1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44745-AF67-47E3-AD33-D688EDA8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Four development identities remain separate from adapter 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D2056-1BC0-4B60-93B8-CA1ADB5F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Exposure during upstream backbone pretraining has not been 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8E60E-4CAD-49E5-ADD8-7228965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Three inference seeds share one training seed and a small identity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54E1-EBE0-4304-8E0A-7A0A424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ArcFace returns valid comparisons for 8 of 12 outputs per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012A4-D535-42C2-A5CC-34E9B59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Independent client-image accuracy remains future evaluation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0152C-3CD6-47D3-B00F-F6BB0010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FaceNet cosine is a similarity score. A value of 0.907 does not mean 90.7% reconstruction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95561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97A53-4B87-4D43-AD59-559909C4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Latest follow-up: timestep identity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44AC0-5BA1-4CF9-B495-FACF512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 / method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Eye 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Clean /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23.86081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0.63481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0.91497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Clean / scaled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23.85949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0.63501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0.27743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0.91623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0.13018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Misleading /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23.84680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0.27769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Misleading / scaled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23.84852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0.63387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0.27823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0.90414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0.12647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D95BC-6EA6-45A0-A75A-7852B67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Scaling improves some identity/eye measures but raises LPIPS in both conditions.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3F5E6-4141-4AF6-AF65-4250922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Work in progress: all quality criteria must improve together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6181493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82767-CA29-4923-9BB0-CCE3DDC5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Author-style input encoding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71030-241A-49C9-A528-3C3EDB5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Encoding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FaceNet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GiB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Together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22.94182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0.55095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0.24070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0.89641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7.09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Separately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22.87994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0.55037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0.24114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0.87150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2.38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03F7E-9D20-41A4-AFAE-255D35C2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71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Same input and model. Only reference encoding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CBC3-FC10-4754-A1BC-30E003C1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071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One observed identity cannot establish benchmark superiority.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E1663-BF11-41C1-BBA7-641E748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71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ArcFace is unavailable because target detection failed.</a:t>
            </a:r>
          </a:p>
        </p:txBody>
      </p:sp>
    </p:spTree>
    <p:extLst>
      <p:ext uri="{BB962C8B-B14F-4D97-AF65-F5344CB8AC3E}">
        <p14:creationId xmlns:p14="http://schemas.microsoft.com/office/powerpoint/2010/main" val="19920596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D1EC0-9E64-46F2-B468-8258271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Work in progress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254D-1002-46EC-BBCF-EB1A4B57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0B04F-D6A6-4112-B682-543D2630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Investigate explicit rejection of unreliable reference information.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33FD3-AB47-425C-A6A0-563D7E9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Test identity and local perceptual losses with matched ablations.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A42B4-6293-44C9-A9BB-BBF6395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Require gains across identity, perceptual and eye-region measurements.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9E690-FC10-4932-9DF6-479ADDAD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Then expand identities, corruption types and independent training seeds.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E6D7-B628-4300-A86C-DB7E738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071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Use reserved final data only after candidate selection is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C84D2-4E80-4CD6-9FC1-0E15F36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current production model stays unchanged while research candidates undergo validation.</a:t>
            </a:r>
          </a:p>
        </p:txBody>
      </p:sp>
    </p:spTree>
    <p:extLst>
      <p:ext uri="{BB962C8B-B14F-4D97-AF65-F5344CB8AC3E}">
        <p14:creationId xmlns:p14="http://schemas.microsoft.com/office/powerpoint/2010/main" val="13846233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FC28E-FE11-4829-9731-FF9EFDAE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Published benchmark values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25296-5D05-481E-AA56-36FA0DE5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B3441-ADD3-41F7-902B-AC2E7825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Different benchmarks. Paper names link to the original source.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1666875"/>
                <a:gridCol w="1571625"/>
                <a:gridCol w="1590675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/ setting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407ef62e9c1b4d4a"/>
                        </a:rPr>
                        <a:t>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CelebA-HQ, wide masks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.098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de89fe048cd4473"/>
                        </a:rPr>
                        <a:t>ResShift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CelebA-Test, four masks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.1506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4f33520334d4462d"/>
                        </a:rPr>
                        <a:t>RefFaceInpainting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Author data, 30% 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.083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ebaf57392e04911"/>
                        </a:rPr>
                        <a:t>ReF-LDM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FFHQ-Ref-Severe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.429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4a9de7ce16f4392"/>
                        </a:rPr>
                        <a:t>GFRNet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VGGFace2, 4x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C56C1-8695-44B2-A5D6-7566CE72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NR = not reported in the selected table. Exact source rows and protocols appear in notes.</a:t>
            </a:r>
          </a:p>
        </p:txBody>
      </p:sp>
    </p:spTree>
    <p:extLst>
      <p:ext uri="{BB962C8B-B14F-4D97-AF65-F5344CB8AC3E}">
        <p14:creationId xmlns:p14="http://schemas.microsoft.com/office/powerpoint/2010/main" val="1151590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AA431-8FB8-4FF3-9307-887F584F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8"/>
                </a:solidFill>
                <a:latin typeface="Arial"/>
                <a:ea typeface="Arial"/>
                <a:cs typeface="Arial"/>
              </a:rPr>
              <a:t>Published benchmark values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C3EE5-D96D-498E-9B81-2DEDE3C9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C5E0B-C5EA-47B7-9BD5-0BF370B2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85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5424"/>
                </a:solidFill>
                <a:latin typeface="Arial"/>
                <a:ea typeface="Arial"/>
                <a:cs typeface="Arial"/>
              </a:rPr>
              <a:t>Different benchmarks. Paper names link to the original source.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1666875"/>
                <a:gridCol w="1571625"/>
                <a:gridCol w="1590675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/ setting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PSNR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SSIM ↑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LPIPS ↓</a:t>
                      </a:r>
                    </a:p>
                  </a:txBody>
                  <a:tcPr marL="91440" marR="91440" marT="45720" marB="45720">
                    <a:solidFill>
                      <a:srgbClr val="17334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844fb434d1514967"/>
                        </a:rPr>
                        <a:t>3DFaceFill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CelebA-HQ, face masks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29.9398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.9492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.0365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1219a1a36fb4c96"/>
                        </a:rPr>
                        <a:t>DMDNet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CelebRef-HQ, 4x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28.97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.902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.166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0ae9d91bda047e0"/>
                        </a:rPr>
                        <a:t>ReFine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CASIA-WebFace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23.77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.803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2bae1713e5847ce"/>
                        </a:rPr>
                        <a:t>RefSTAR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Celeb-Ref-Test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24.69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NR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.335</a:t>
                      </a:r>
                    </a:p>
                  </a:txBody>
                  <a:tcPr marL="91440" marR="91440" marT="45720" marB="45720">
                    <a:solidFill>
                      <a:srgbClr val="EDF2F4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007F87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0d4a158517b427d"/>
                        </a:rPr>
                        <a:t>ReSem-Face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CelebAHQ-IDI-5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28.31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.904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8"/>
                          </a:solidFill>
                          <a:latin typeface="Arial"/>
                          <a:ea typeface="Arial"/>
                          <a:cs typeface="Arial"/>
                        </a:rPr>
                        <a:t>.116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B8A21-9400-4A01-92DF-9F4B2059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NR = not reported in the selected table. Exact source rows and protocols appear in notes.</a:t>
            </a:r>
          </a:p>
        </p:txBody>
      </p:sp>
    </p:spTree>
    <p:extLst>
      <p:ext uri="{BB962C8B-B14F-4D97-AF65-F5344CB8AC3E}">
        <p14:creationId xmlns:p14="http://schemas.microsoft.com/office/powerpoint/2010/main" val="1779950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2026-10-05T06:13:07.3460000Z</dcterms:created>
  <dcterms:modified xsi:type="dcterms:W3CDTF">2026-10-05T06:13:07.3460000Z</dcterms:modified>
</coreProperties>
</file>